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210 도시락" panose="020B0600000101010101" charset="-127"/>
      <p:regular r:id="rId18"/>
    </p:embeddedFont>
    <p:embeddedFont>
      <p:font typeface="Nanum Square Bold" panose="020B0600000101010101" charset="-127"/>
      <p:regular r:id="rId19"/>
    </p:embeddedFont>
    <p:embeddedFont>
      <p:font typeface="TDTD순고딕" panose="020B0600000101010101" charset="-127"/>
      <p:regular r:id="rId20"/>
    </p:embeddedFont>
    <p:embeddedFont>
      <p:font typeface="TDTD순고딕 Bold" panose="020B0600000101010101" charset="-127"/>
      <p:regular r:id="rId21"/>
    </p:embeddedFont>
    <p:embeddedFont>
      <p:font typeface="Bernoru" panose="020B0600000101010101" charset="0"/>
      <p:regular r:id="rId22"/>
    </p:embeddedFont>
    <p:embeddedFont>
      <p:font typeface="Lovely May Script" panose="020B0600000101010101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708" y="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B9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1214" y="-383595"/>
            <a:ext cx="21315878" cy="10670595"/>
            <a:chOff x="0" y="0"/>
            <a:chExt cx="28421170" cy="1422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872247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872247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970645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972288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1069043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069043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700544"/>
            <a:ext cx="16326741" cy="8885912"/>
            <a:chOff x="0" y="0"/>
            <a:chExt cx="21768988" cy="11847883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419232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4C607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8148205" y="43290"/>
              <a:ext cx="1261355" cy="779639"/>
              <a:chOff x="0" y="0"/>
              <a:chExt cx="278029" cy="1718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182290" y="43290"/>
              <a:ext cx="1261355" cy="779639"/>
              <a:chOff x="0" y="0"/>
              <a:chExt cx="278029" cy="17184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272022"/>
              <a:ext cx="21640800" cy="11428651"/>
              <a:chOff x="0" y="0"/>
              <a:chExt cx="4274726" cy="225751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749353">
              <a:off x="3306636" y="28433"/>
              <a:ext cx="290431" cy="251100"/>
              <a:chOff x="0" y="0"/>
              <a:chExt cx="1077708" cy="93176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334933" y="209215"/>
              <a:ext cx="1272649" cy="581591"/>
              <a:chOff x="0" y="0"/>
              <a:chExt cx="280519" cy="12819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2197048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3445428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2" name="Group 32"/>
            <p:cNvGrpSpPr/>
            <p:nvPr/>
          </p:nvGrpSpPr>
          <p:grpSpPr>
            <a:xfrm rot="-749353">
              <a:off x="19272552" y="28433"/>
              <a:ext cx="290431" cy="251100"/>
              <a:chOff x="0" y="0"/>
              <a:chExt cx="1077708" cy="9317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8300848" y="209215"/>
              <a:ext cx="1272649" cy="581591"/>
              <a:chOff x="0" y="0"/>
              <a:chExt cx="280519" cy="12819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8" name="AutoShape 38"/>
            <p:cNvSpPr/>
            <p:nvPr/>
          </p:nvSpPr>
          <p:spPr>
            <a:xfrm>
              <a:off x="18162964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9411343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0" name="Freeform 40"/>
          <p:cNvSpPr/>
          <p:nvPr/>
        </p:nvSpPr>
        <p:spPr>
          <a:xfrm>
            <a:off x="11184252" y="2641571"/>
            <a:ext cx="5215460" cy="5003857"/>
          </a:xfrm>
          <a:custGeom>
            <a:avLst/>
            <a:gdLst/>
            <a:ahLst/>
            <a:cxnLst/>
            <a:rect l="l" t="t" r="r" b="b"/>
            <a:pathLst>
              <a:path w="5215460" h="5003857">
                <a:moveTo>
                  <a:pt x="0" y="0"/>
                </a:moveTo>
                <a:lnTo>
                  <a:pt x="5215460" y="0"/>
                </a:lnTo>
                <a:lnTo>
                  <a:pt x="5215460" y="5003858"/>
                </a:lnTo>
                <a:lnTo>
                  <a:pt x="0" y="5003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1" name="TextBox 41"/>
          <p:cNvSpPr txBox="1"/>
          <p:nvPr/>
        </p:nvSpPr>
        <p:spPr>
          <a:xfrm>
            <a:off x="1804395" y="5203061"/>
            <a:ext cx="7292286" cy="1210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54"/>
              </a:lnSpc>
            </a:pPr>
            <a:r>
              <a:rPr lang="en-US" sz="6967" spc="-494">
                <a:solidFill>
                  <a:srgbClr val="91A2B4"/>
                </a:solidFill>
                <a:latin typeface="210 도시락"/>
                <a:ea typeface="210 도시락"/>
                <a:cs typeface="210 도시락"/>
                <a:sym typeface="210 도시락"/>
              </a:rPr>
              <a:t>PRESENTATION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14113" y="3536298"/>
            <a:ext cx="8441273" cy="5912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384F67"/>
                </a:solidFill>
                <a:latin typeface="210 도시락"/>
                <a:ea typeface="210 도시락"/>
                <a:cs typeface="210 도시락"/>
                <a:sym typeface="210 도시락"/>
              </a:rPr>
              <a:t>설계/프로젝트 개념설계보고</a:t>
            </a:r>
          </a:p>
          <a:p>
            <a:pPr algn="ctr">
              <a:lnSpc>
                <a:spcPts val="15422"/>
              </a:lnSpc>
            </a:pPr>
            <a:endParaRPr lang="en-US" sz="6000">
              <a:solidFill>
                <a:srgbClr val="384F67"/>
              </a:solidFill>
              <a:latin typeface="210 도시락"/>
              <a:ea typeface="210 도시락"/>
              <a:cs typeface="210 도시락"/>
              <a:sym typeface="210 도시락"/>
            </a:endParaRPr>
          </a:p>
          <a:p>
            <a:pPr algn="ctr">
              <a:lnSpc>
                <a:spcPts val="15002"/>
              </a:lnSpc>
            </a:pPr>
            <a:endParaRPr lang="en-US" sz="6000">
              <a:solidFill>
                <a:srgbClr val="384F67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2101158" y="8693781"/>
            <a:ext cx="3381647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42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설계팀: 코더사이저</a:t>
            </a:r>
          </a:p>
        </p:txBody>
      </p:sp>
      <p:sp>
        <p:nvSpPr>
          <p:cNvPr id="44" name="AutoShape 44"/>
          <p:cNvSpPr/>
          <p:nvPr/>
        </p:nvSpPr>
        <p:spPr>
          <a:xfrm>
            <a:off x="2223436" y="3688698"/>
            <a:ext cx="6441748" cy="0"/>
          </a:xfrm>
          <a:prstGeom prst="line">
            <a:avLst/>
          </a:prstGeom>
          <a:ln w="28575" cap="flat">
            <a:solidFill>
              <a:srgbClr val="4C6075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Box 45"/>
          <p:cNvSpPr txBox="1"/>
          <p:nvPr/>
        </p:nvSpPr>
        <p:spPr>
          <a:xfrm>
            <a:off x="2223436" y="2584421"/>
            <a:ext cx="4865435" cy="1386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9"/>
              </a:lnSpc>
            </a:pPr>
            <a:r>
              <a:rPr lang="en-US" sz="2292" b="1" spc="-48">
                <a:solidFill>
                  <a:srgbClr val="384F67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AI 기반 여행리뷰 분석 및 맞춤정보 제공 시스템</a:t>
            </a:r>
          </a:p>
          <a:p>
            <a:pPr algn="l">
              <a:lnSpc>
                <a:spcPts val="3209"/>
              </a:lnSpc>
            </a:pPr>
            <a:endParaRPr lang="en-US" sz="2292" b="1" spc="-48">
              <a:solidFill>
                <a:srgbClr val="384F67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l">
              <a:lnSpc>
                <a:spcPts val="1399"/>
              </a:lnSpc>
            </a:pPr>
            <a:endParaRPr lang="en-US" sz="2292" b="1" spc="-48">
              <a:solidFill>
                <a:srgbClr val="384F67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B9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1214" y="-383595"/>
            <a:ext cx="21315878" cy="10670595"/>
            <a:chOff x="0" y="0"/>
            <a:chExt cx="28421170" cy="1422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872247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872247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970645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972288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1069043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069043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700544"/>
            <a:ext cx="16326741" cy="8885912"/>
            <a:chOff x="0" y="0"/>
            <a:chExt cx="21768988" cy="11847883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419232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4C607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8148205" y="43290"/>
              <a:ext cx="1261355" cy="779639"/>
              <a:chOff x="0" y="0"/>
              <a:chExt cx="278029" cy="1718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182290" y="43290"/>
              <a:ext cx="1261355" cy="779639"/>
              <a:chOff x="0" y="0"/>
              <a:chExt cx="278029" cy="17184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272022"/>
              <a:ext cx="21640800" cy="11428651"/>
              <a:chOff x="0" y="0"/>
              <a:chExt cx="4274726" cy="225751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749353">
              <a:off x="3306636" y="28433"/>
              <a:ext cx="290431" cy="251100"/>
              <a:chOff x="0" y="0"/>
              <a:chExt cx="1077708" cy="93176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334933" y="209215"/>
              <a:ext cx="1272649" cy="581591"/>
              <a:chOff x="0" y="0"/>
              <a:chExt cx="280519" cy="12819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2197048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3445428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2" name="Group 32"/>
            <p:cNvGrpSpPr/>
            <p:nvPr/>
          </p:nvGrpSpPr>
          <p:grpSpPr>
            <a:xfrm rot="-749353">
              <a:off x="19272552" y="28433"/>
              <a:ext cx="290431" cy="251100"/>
              <a:chOff x="0" y="0"/>
              <a:chExt cx="1077708" cy="9317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8300848" y="209215"/>
              <a:ext cx="1272649" cy="581591"/>
              <a:chOff x="0" y="0"/>
              <a:chExt cx="280519" cy="12819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8" name="AutoShape 38"/>
            <p:cNvSpPr/>
            <p:nvPr/>
          </p:nvSpPr>
          <p:spPr>
            <a:xfrm>
              <a:off x="18162964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9411343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0" name="AutoShape 40"/>
          <p:cNvSpPr/>
          <p:nvPr/>
        </p:nvSpPr>
        <p:spPr>
          <a:xfrm flipV="1">
            <a:off x="2369273" y="3215942"/>
            <a:ext cx="13549454" cy="0"/>
          </a:xfrm>
          <a:prstGeom prst="line">
            <a:avLst/>
          </a:prstGeom>
          <a:ln w="28575" cap="flat">
            <a:solidFill>
              <a:srgbClr val="4C6075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Box 41"/>
          <p:cNvSpPr txBox="1"/>
          <p:nvPr/>
        </p:nvSpPr>
        <p:spPr>
          <a:xfrm>
            <a:off x="7849734" y="1613847"/>
            <a:ext cx="2588532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84F67"/>
                </a:solidFill>
                <a:latin typeface="210 도시락"/>
                <a:ea typeface="210 도시락"/>
                <a:cs typeface="210 도시락"/>
                <a:sym typeface="210 도시락"/>
              </a:rPr>
              <a:t>목차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4672817" y="4213364"/>
            <a:ext cx="432117" cy="432117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F67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FFFFFF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01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5245224" y="4189398"/>
            <a:ext cx="2204561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E5165"/>
                </a:solidFill>
                <a:latin typeface="TDTD순고딕"/>
                <a:ea typeface="TDTD순고딕"/>
                <a:cs typeface="TDTD순고딕"/>
                <a:sym typeface="TDTD순고딕"/>
              </a:rPr>
              <a:t>서론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4672817" y="5109325"/>
            <a:ext cx="432117" cy="432117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F67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FFFFFF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02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5245224" y="5085359"/>
            <a:ext cx="2204561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E5165"/>
                </a:solidFill>
                <a:latin typeface="TDTD순고딕"/>
                <a:ea typeface="TDTD순고딕"/>
                <a:cs typeface="TDTD순고딕"/>
                <a:sym typeface="TDTD순고딕"/>
              </a:rPr>
              <a:t>아이디어 창출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4672817" y="6008167"/>
            <a:ext cx="432117" cy="432117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F67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FFFFFF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03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5245224" y="5984201"/>
            <a:ext cx="2204561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E5165"/>
                </a:solidFill>
                <a:latin typeface="TDTD순고딕"/>
                <a:ea typeface="TDTD순고딕"/>
                <a:cs typeface="TDTD순고딕"/>
                <a:sym typeface="TDTD순고딕"/>
              </a:rPr>
              <a:t>아이디어 다듬기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4672817" y="6907008"/>
            <a:ext cx="432117" cy="432117"/>
            <a:chOff x="0" y="0"/>
            <a:chExt cx="812800" cy="812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F67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FFFFFF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04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5245224" y="6883042"/>
            <a:ext cx="260451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E5165"/>
                </a:solidFill>
                <a:latin typeface="TDTD순고딕"/>
                <a:ea typeface="TDTD순고딕"/>
                <a:cs typeface="TDTD순고딕"/>
                <a:sym typeface="TDTD순고딕"/>
              </a:rPr>
              <a:t>아이디어 최종선택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B9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1214" y="-383595"/>
            <a:ext cx="21315878" cy="10670595"/>
            <a:chOff x="0" y="0"/>
            <a:chExt cx="28421170" cy="1422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872247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872247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970645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972288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1069043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069043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700544"/>
            <a:ext cx="16326741" cy="8885912"/>
            <a:chOff x="0" y="0"/>
            <a:chExt cx="21768988" cy="11847883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419232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4C607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8148205" y="43290"/>
              <a:ext cx="1261355" cy="779639"/>
              <a:chOff x="0" y="0"/>
              <a:chExt cx="278029" cy="1718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182290" y="43290"/>
              <a:ext cx="1261355" cy="779639"/>
              <a:chOff x="0" y="0"/>
              <a:chExt cx="278029" cy="17184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272022"/>
              <a:ext cx="21640800" cy="11428651"/>
              <a:chOff x="0" y="0"/>
              <a:chExt cx="4274726" cy="225751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749353">
              <a:off x="3306636" y="28433"/>
              <a:ext cx="290431" cy="251100"/>
              <a:chOff x="0" y="0"/>
              <a:chExt cx="1077708" cy="93176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334933" y="209215"/>
              <a:ext cx="1272649" cy="581591"/>
              <a:chOff x="0" y="0"/>
              <a:chExt cx="280519" cy="12819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2197048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3445428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2" name="Group 32"/>
            <p:cNvGrpSpPr/>
            <p:nvPr/>
          </p:nvGrpSpPr>
          <p:grpSpPr>
            <a:xfrm rot="-749353">
              <a:off x="19272552" y="28433"/>
              <a:ext cx="290431" cy="251100"/>
              <a:chOff x="0" y="0"/>
              <a:chExt cx="1077708" cy="9317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8300848" y="209215"/>
              <a:ext cx="1272649" cy="581591"/>
              <a:chOff x="0" y="0"/>
              <a:chExt cx="280519" cy="12819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8" name="AutoShape 38"/>
            <p:cNvSpPr/>
            <p:nvPr/>
          </p:nvSpPr>
          <p:spPr>
            <a:xfrm>
              <a:off x="18162964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9411343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0" name="Freeform 40"/>
          <p:cNvSpPr/>
          <p:nvPr/>
        </p:nvSpPr>
        <p:spPr>
          <a:xfrm>
            <a:off x="2199105" y="2749151"/>
            <a:ext cx="11301259" cy="1949467"/>
          </a:xfrm>
          <a:custGeom>
            <a:avLst/>
            <a:gdLst/>
            <a:ahLst/>
            <a:cxnLst/>
            <a:rect l="l" t="t" r="r" b="b"/>
            <a:pathLst>
              <a:path w="11301259" h="1949467">
                <a:moveTo>
                  <a:pt x="0" y="0"/>
                </a:moveTo>
                <a:lnTo>
                  <a:pt x="11301259" y="0"/>
                </a:lnTo>
                <a:lnTo>
                  <a:pt x="11301259" y="1949467"/>
                </a:lnTo>
                <a:lnTo>
                  <a:pt x="0" y="1949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1" name="Freeform 41"/>
          <p:cNvSpPr/>
          <p:nvPr/>
        </p:nvSpPr>
        <p:spPr>
          <a:xfrm>
            <a:off x="2199105" y="4984368"/>
            <a:ext cx="11301259" cy="1949467"/>
          </a:xfrm>
          <a:custGeom>
            <a:avLst/>
            <a:gdLst/>
            <a:ahLst/>
            <a:cxnLst/>
            <a:rect l="l" t="t" r="r" b="b"/>
            <a:pathLst>
              <a:path w="11301259" h="1949467">
                <a:moveTo>
                  <a:pt x="0" y="0"/>
                </a:moveTo>
                <a:lnTo>
                  <a:pt x="11301259" y="0"/>
                </a:lnTo>
                <a:lnTo>
                  <a:pt x="11301259" y="1949467"/>
                </a:lnTo>
                <a:lnTo>
                  <a:pt x="0" y="1949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2" name="Freeform 42"/>
          <p:cNvSpPr/>
          <p:nvPr/>
        </p:nvSpPr>
        <p:spPr>
          <a:xfrm>
            <a:off x="2199105" y="7219585"/>
            <a:ext cx="11301259" cy="1963594"/>
          </a:xfrm>
          <a:custGeom>
            <a:avLst/>
            <a:gdLst/>
            <a:ahLst/>
            <a:cxnLst/>
            <a:rect l="l" t="t" r="r" b="b"/>
            <a:pathLst>
              <a:path w="11301259" h="1963594">
                <a:moveTo>
                  <a:pt x="0" y="0"/>
                </a:moveTo>
                <a:lnTo>
                  <a:pt x="11301259" y="0"/>
                </a:lnTo>
                <a:lnTo>
                  <a:pt x="11301259" y="1963594"/>
                </a:lnTo>
                <a:lnTo>
                  <a:pt x="0" y="19635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3" name="TextBox 43"/>
          <p:cNvSpPr txBox="1"/>
          <p:nvPr/>
        </p:nvSpPr>
        <p:spPr>
          <a:xfrm>
            <a:off x="7849734" y="1264087"/>
            <a:ext cx="2588532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84F67"/>
                </a:solidFill>
                <a:latin typeface="210 도시락"/>
                <a:ea typeface="210 도시락"/>
                <a:cs typeface="210 도시락"/>
                <a:sym typeface="210 도시락"/>
              </a:rPr>
              <a:t>서론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31979" y="1273612"/>
            <a:ext cx="151775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A4B9CE"/>
                </a:solidFill>
                <a:latin typeface="Lovely May Script"/>
                <a:ea typeface="Lovely May Script"/>
                <a:cs typeface="Lovely May Script"/>
                <a:sym typeface="Lovely May Script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B9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1214" y="-383595"/>
            <a:ext cx="21315878" cy="10670595"/>
            <a:chOff x="0" y="0"/>
            <a:chExt cx="28421170" cy="1422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872247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872247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970645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972288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1069043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069043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700544"/>
            <a:ext cx="16326741" cy="8885912"/>
            <a:chOff x="0" y="0"/>
            <a:chExt cx="21768988" cy="11847883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419232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4C607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8148205" y="43290"/>
              <a:ext cx="1261355" cy="779639"/>
              <a:chOff x="0" y="0"/>
              <a:chExt cx="278029" cy="1718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182290" y="43290"/>
              <a:ext cx="1261355" cy="779639"/>
              <a:chOff x="0" y="0"/>
              <a:chExt cx="278029" cy="17184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272022"/>
              <a:ext cx="21640800" cy="11428651"/>
              <a:chOff x="0" y="0"/>
              <a:chExt cx="4274726" cy="225751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749353">
              <a:off x="3306636" y="28433"/>
              <a:ext cx="290431" cy="251100"/>
              <a:chOff x="0" y="0"/>
              <a:chExt cx="1077708" cy="93176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334933" y="209215"/>
              <a:ext cx="1272649" cy="581591"/>
              <a:chOff x="0" y="0"/>
              <a:chExt cx="280519" cy="12819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2197048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3445428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2" name="Group 32"/>
            <p:cNvGrpSpPr/>
            <p:nvPr/>
          </p:nvGrpSpPr>
          <p:grpSpPr>
            <a:xfrm rot="-749353">
              <a:off x="19272552" y="28433"/>
              <a:ext cx="290431" cy="251100"/>
              <a:chOff x="0" y="0"/>
              <a:chExt cx="1077708" cy="9317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8300848" y="209215"/>
              <a:ext cx="1272649" cy="581591"/>
              <a:chOff x="0" y="0"/>
              <a:chExt cx="280519" cy="12819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8" name="AutoShape 38"/>
            <p:cNvSpPr/>
            <p:nvPr/>
          </p:nvSpPr>
          <p:spPr>
            <a:xfrm>
              <a:off x="18162964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9411343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0" name="Freeform 40"/>
          <p:cNvSpPr/>
          <p:nvPr/>
        </p:nvSpPr>
        <p:spPr>
          <a:xfrm>
            <a:off x="2369273" y="2658859"/>
            <a:ext cx="11301259" cy="1949467"/>
          </a:xfrm>
          <a:custGeom>
            <a:avLst/>
            <a:gdLst/>
            <a:ahLst/>
            <a:cxnLst/>
            <a:rect l="l" t="t" r="r" b="b"/>
            <a:pathLst>
              <a:path w="11301259" h="1949467">
                <a:moveTo>
                  <a:pt x="0" y="0"/>
                </a:moveTo>
                <a:lnTo>
                  <a:pt x="11301259" y="0"/>
                </a:lnTo>
                <a:lnTo>
                  <a:pt x="11301259" y="1949468"/>
                </a:lnTo>
                <a:lnTo>
                  <a:pt x="0" y="1949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1" name="Freeform 41"/>
          <p:cNvSpPr/>
          <p:nvPr/>
        </p:nvSpPr>
        <p:spPr>
          <a:xfrm>
            <a:off x="2369273" y="4951703"/>
            <a:ext cx="11301259" cy="1949467"/>
          </a:xfrm>
          <a:custGeom>
            <a:avLst/>
            <a:gdLst/>
            <a:ahLst/>
            <a:cxnLst/>
            <a:rect l="l" t="t" r="r" b="b"/>
            <a:pathLst>
              <a:path w="11301259" h="1949467">
                <a:moveTo>
                  <a:pt x="0" y="0"/>
                </a:moveTo>
                <a:lnTo>
                  <a:pt x="11301259" y="0"/>
                </a:lnTo>
                <a:lnTo>
                  <a:pt x="11301259" y="1949467"/>
                </a:lnTo>
                <a:lnTo>
                  <a:pt x="0" y="1949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2" name="Freeform 42"/>
          <p:cNvSpPr/>
          <p:nvPr/>
        </p:nvSpPr>
        <p:spPr>
          <a:xfrm>
            <a:off x="2369273" y="7244070"/>
            <a:ext cx="11301259" cy="1949467"/>
          </a:xfrm>
          <a:custGeom>
            <a:avLst/>
            <a:gdLst/>
            <a:ahLst/>
            <a:cxnLst/>
            <a:rect l="l" t="t" r="r" b="b"/>
            <a:pathLst>
              <a:path w="11301259" h="1949467">
                <a:moveTo>
                  <a:pt x="0" y="0"/>
                </a:moveTo>
                <a:lnTo>
                  <a:pt x="11301259" y="0"/>
                </a:lnTo>
                <a:lnTo>
                  <a:pt x="11301259" y="1949467"/>
                </a:lnTo>
                <a:lnTo>
                  <a:pt x="0" y="1949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3" name="TextBox 43"/>
          <p:cNvSpPr txBox="1"/>
          <p:nvPr/>
        </p:nvSpPr>
        <p:spPr>
          <a:xfrm>
            <a:off x="7849734" y="1264087"/>
            <a:ext cx="2588532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84F67"/>
                </a:solidFill>
                <a:latin typeface="210 도시락"/>
                <a:ea typeface="210 도시락"/>
                <a:cs typeface="210 도시락"/>
                <a:sym typeface="210 도시락"/>
              </a:rPr>
              <a:t>서론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31979" y="1273612"/>
            <a:ext cx="151775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A4B9CE"/>
                </a:solidFill>
                <a:latin typeface="Lovely May Script"/>
                <a:ea typeface="Lovely May Script"/>
                <a:cs typeface="Lovely May Script"/>
                <a:sym typeface="Lovely May Script"/>
              </a:rP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B9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1214" y="-383595"/>
            <a:ext cx="21315878" cy="10670595"/>
            <a:chOff x="0" y="0"/>
            <a:chExt cx="28421170" cy="1422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872247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872247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970645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972288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1069043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069043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700544"/>
            <a:ext cx="16326741" cy="8885912"/>
            <a:chOff x="0" y="0"/>
            <a:chExt cx="21768988" cy="11847883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419232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4C607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8148205" y="43290"/>
              <a:ext cx="1261355" cy="779639"/>
              <a:chOff x="0" y="0"/>
              <a:chExt cx="278029" cy="1718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182290" y="43290"/>
              <a:ext cx="1261355" cy="779639"/>
              <a:chOff x="0" y="0"/>
              <a:chExt cx="278029" cy="17184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272022"/>
              <a:ext cx="21640800" cy="11428651"/>
              <a:chOff x="0" y="0"/>
              <a:chExt cx="4274726" cy="225751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749353">
              <a:off x="3306636" y="28433"/>
              <a:ext cx="290431" cy="251100"/>
              <a:chOff x="0" y="0"/>
              <a:chExt cx="1077708" cy="93176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334933" y="209215"/>
              <a:ext cx="1272649" cy="581591"/>
              <a:chOff x="0" y="0"/>
              <a:chExt cx="280519" cy="12819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2197048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3445428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2" name="Group 32"/>
            <p:cNvGrpSpPr/>
            <p:nvPr/>
          </p:nvGrpSpPr>
          <p:grpSpPr>
            <a:xfrm rot="-749353">
              <a:off x="19272552" y="28433"/>
              <a:ext cx="290431" cy="251100"/>
              <a:chOff x="0" y="0"/>
              <a:chExt cx="1077708" cy="9317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8300848" y="209215"/>
              <a:ext cx="1272649" cy="581591"/>
              <a:chOff x="0" y="0"/>
              <a:chExt cx="280519" cy="12819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8" name="AutoShape 38"/>
            <p:cNvSpPr/>
            <p:nvPr/>
          </p:nvSpPr>
          <p:spPr>
            <a:xfrm>
              <a:off x="18162964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9411343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172951" y="3094345"/>
            <a:ext cx="5450002" cy="2889605"/>
            <a:chOff x="0" y="0"/>
            <a:chExt cx="1532999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32999" cy="812800"/>
            </a:xfrm>
            <a:custGeom>
              <a:avLst/>
              <a:gdLst/>
              <a:ahLst/>
              <a:cxnLst/>
              <a:rect l="l" t="t" r="r" b="b"/>
              <a:pathLst>
                <a:path w="1532999" h="812800">
                  <a:moveTo>
                    <a:pt x="137297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1372979" y="812800"/>
                  </a:lnTo>
                  <a:lnTo>
                    <a:pt x="1532999" y="652780"/>
                  </a:lnTo>
                  <a:lnTo>
                    <a:pt x="1532999" y="160020"/>
                  </a:lnTo>
                  <a:lnTo>
                    <a:pt x="1372979" y="0"/>
                  </a:lnTo>
                  <a:close/>
                </a:path>
              </a:pathLst>
            </a:custGeom>
            <a:solidFill>
              <a:srgbClr val="D6E3F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500" y="15875"/>
              <a:ext cx="1405999" cy="733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665047" y="3094403"/>
            <a:ext cx="5450002" cy="2889605"/>
            <a:chOff x="0" y="0"/>
            <a:chExt cx="1532999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532999" cy="812800"/>
            </a:xfrm>
            <a:custGeom>
              <a:avLst/>
              <a:gdLst/>
              <a:ahLst/>
              <a:cxnLst/>
              <a:rect l="l" t="t" r="r" b="b"/>
              <a:pathLst>
                <a:path w="1532999" h="812800">
                  <a:moveTo>
                    <a:pt x="137297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1372979" y="812800"/>
                  </a:lnTo>
                  <a:lnTo>
                    <a:pt x="1532999" y="652780"/>
                  </a:lnTo>
                  <a:lnTo>
                    <a:pt x="1532999" y="160020"/>
                  </a:lnTo>
                  <a:lnTo>
                    <a:pt x="1372979" y="0"/>
                  </a:lnTo>
                  <a:close/>
                </a:path>
              </a:pathLst>
            </a:custGeom>
            <a:solidFill>
              <a:srgbClr val="D6E3F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500" y="15875"/>
              <a:ext cx="1405999" cy="733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648595" y="5984008"/>
            <a:ext cx="5450002" cy="2889605"/>
            <a:chOff x="0" y="0"/>
            <a:chExt cx="1532999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532999" cy="812800"/>
            </a:xfrm>
            <a:custGeom>
              <a:avLst/>
              <a:gdLst/>
              <a:ahLst/>
              <a:cxnLst/>
              <a:rect l="l" t="t" r="r" b="b"/>
              <a:pathLst>
                <a:path w="1532999" h="812800">
                  <a:moveTo>
                    <a:pt x="137297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1372979" y="812800"/>
                  </a:lnTo>
                  <a:lnTo>
                    <a:pt x="1532999" y="652780"/>
                  </a:lnTo>
                  <a:lnTo>
                    <a:pt x="1532999" y="160020"/>
                  </a:lnTo>
                  <a:lnTo>
                    <a:pt x="1372979" y="0"/>
                  </a:lnTo>
                  <a:close/>
                </a:path>
              </a:pathLst>
            </a:custGeom>
            <a:solidFill>
              <a:srgbClr val="D6E3F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500" y="15875"/>
              <a:ext cx="1405999" cy="733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4576283" y="3265365"/>
            <a:ext cx="3609788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384F67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리뷰 분석 및 요약 제공</a:t>
            </a: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384F67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384F67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7559831" y="6297198"/>
            <a:ext cx="3627530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384F67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AI 질의응답 기능</a:t>
            </a: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384F67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384F67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4611230" y="3833690"/>
            <a:ext cx="3893185" cy="157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3150"/>
              </a:lnSpc>
              <a:buFont typeface="Arial"/>
              <a:buChar char="•"/>
            </a:pPr>
            <a:r>
              <a:rPr lang="en-US" sz="1800" b="1">
                <a:solidFill>
                  <a:srgbClr val="7288A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리뷰를 긍정·부정으로 분류하고, 주요 내용을 카테고리별로 요약하여 제공</a:t>
            </a:r>
          </a:p>
          <a:p>
            <a:pPr algn="l">
              <a:lnSpc>
                <a:spcPts val="3150"/>
              </a:lnSpc>
            </a:pPr>
            <a:endParaRPr lang="en-US" sz="1800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7339577" y="6890869"/>
            <a:ext cx="4390601" cy="1179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3150"/>
              </a:lnSpc>
              <a:buFont typeface="Arial"/>
              <a:buChar char="•"/>
            </a:pPr>
            <a:r>
              <a:rPr lang="en-US" sz="1800" b="1">
                <a:solidFill>
                  <a:srgbClr val="7288A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사용자가 특정 질문을 입력하면 즉시 답변을 제공하여 정보 탐색 시간을 단축</a:t>
            </a:r>
          </a:p>
          <a:p>
            <a:pPr algn="l">
              <a:lnSpc>
                <a:spcPts val="3150"/>
              </a:lnSpc>
            </a:pPr>
            <a:endParaRPr lang="en-US" sz="1800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084187" y="3243577"/>
            <a:ext cx="3872955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384F67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긍정·부정 비율 시각화</a:t>
            </a: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384F67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384F67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0188150" y="3974251"/>
            <a:ext cx="3768992" cy="157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3150"/>
              </a:lnSpc>
              <a:buFont typeface="Arial"/>
              <a:buChar char="•"/>
            </a:pPr>
            <a:r>
              <a:rPr lang="en-US" sz="1800" b="1">
                <a:solidFill>
                  <a:srgbClr val="7288A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전체 리뷰의 분위기를 직관적으로 파악할 수 있도록 비율을 그래프 또는 시각적 데이터로 표시</a:t>
            </a:r>
          </a:p>
          <a:p>
            <a:pPr algn="l">
              <a:lnSpc>
                <a:spcPts val="3150"/>
              </a:lnSpc>
            </a:pPr>
            <a:endParaRPr lang="en-US" sz="1800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6557822" y="1424295"/>
            <a:ext cx="5172355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84F67"/>
                </a:solidFill>
                <a:latin typeface="210 도시락"/>
                <a:ea typeface="210 도시락"/>
                <a:cs typeface="210 도시락"/>
                <a:sym typeface="210 도시락"/>
              </a:rPr>
              <a:t>아이디어 창출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274860" y="1452928"/>
            <a:ext cx="151775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A4B9CE"/>
                </a:solidFill>
                <a:latin typeface="Lovely May Script"/>
                <a:ea typeface="Lovely May Script"/>
                <a:cs typeface="Lovely May Script"/>
                <a:sym typeface="Lovely May Script"/>
              </a:rP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B9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1214" y="-383595"/>
            <a:ext cx="21315878" cy="10670595"/>
            <a:chOff x="0" y="0"/>
            <a:chExt cx="28421170" cy="1422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872247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872247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970645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972288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1069043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069043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700544"/>
            <a:ext cx="16326741" cy="8885912"/>
            <a:chOff x="0" y="0"/>
            <a:chExt cx="21768988" cy="11847883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419232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4C607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8148205" y="43290"/>
              <a:ext cx="1261355" cy="779639"/>
              <a:chOff x="0" y="0"/>
              <a:chExt cx="278029" cy="1718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182290" y="43290"/>
              <a:ext cx="1261355" cy="779639"/>
              <a:chOff x="0" y="0"/>
              <a:chExt cx="278029" cy="17184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272022"/>
              <a:ext cx="21640800" cy="11428651"/>
              <a:chOff x="0" y="0"/>
              <a:chExt cx="4274726" cy="225751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749353">
              <a:off x="3306636" y="28433"/>
              <a:ext cx="290431" cy="251100"/>
              <a:chOff x="0" y="0"/>
              <a:chExt cx="1077708" cy="93176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334933" y="209215"/>
              <a:ext cx="1272649" cy="581591"/>
              <a:chOff x="0" y="0"/>
              <a:chExt cx="280519" cy="12819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2197048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3445428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2" name="Group 32"/>
            <p:cNvGrpSpPr/>
            <p:nvPr/>
          </p:nvGrpSpPr>
          <p:grpSpPr>
            <a:xfrm rot="-749353">
              <a:off x="19272552" y="28433"/>
              <a:ext cx="290431" cy="251100"/>
              <a:chOff x="0" y="0"/>
              <a:chExt cx="1077708" cy="9317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8300848" y="209215"/>
              <a:ext cx="1272649" cy="581591"/>
              <a:chOff x="0" y="0"/>
              <a:chExt cx="280519" cy="12819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8" name="AutoShape 38"/>
            <p:cNvSpPr/>
            <p:nvPr/>
          </p:nvSpPr>
          <p:spPr>
            <a:xfrm>
              <a:off x="18162964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9411343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172951" y="3094345"/>
            <a:ext cx="5450002" cy="2889605"/>
            <a:chOff x="0" y="0"/>
            <a:chExt cx="1532999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32999" cy="812800"/>
            </a:xfrm>
            <a:custGeom>
              <a:avLst/>
              <a:gdLst/>
              <a:ahLst/>
              <a:cxnLst/>
              <a:rect l="l" t="t" r="r" b="b"/>
              <a:pathLst>
                <a:path w="1532999" h="812800">
                  <a:moveTo>
                    <a:pt x="137297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1372979" y="812800"/>
                  </a:lnTo>
                  <a:lnTo>
                    <a:pt x="1532999" y="652780"/>
                  </a:lnTo>
                  <a:lnTo>
                    <a:pt x="1532999" y="160020"/>
                  </a:lnTo>
                  <a:lnTo>
                    <a:pt x="1372979" y="0"/>
                  </a:lnTo>
                  <a:close/>
                </a:path>
              </a:pathLst>
            </a:custGeom>
            <a:solidFill>
              <a:srgbClr val="D6E3F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500" y="15875"/>
              <a:ext cx="1405999" cy="733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665047" y="3094403"/>
            <a:ext cx="5450002" cy="2889605"/>
            <a:chOff x="0" y="0"/>
            <a:chExt cx="1532999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532999" cy="812800"/>
            </a:xfrm>
            <a:custGeom>
              <a:avLst/>
              <a:gdLst/>
              <a:ahLst/>
              <a:cxnLst/>
              <a:rect l="l" t="t" r="r" b="b"/>
              <a:pathLst>
                <a:path w="1532999" h="812800">
                  <a:moveTo>
                    <a:pt x="137297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1372979" y="812800"/>
                  </a:lnTo>
                  <a:lnTo>
                    <a:pt x="1532999" y="652780"/>
                  </a:lnTo>
                  <a:lnTo>
                    <a:pt x="1532999" y="160020"/>
                  </a:lnTo>
                  <a:lnTo>
                    <a:pt x="1372979" y="0"/>
                  </a:lnTo>
                  <a:close/>
                </a:path>
              </a:pathLst>
            </a:custGeom>
            <a:solidFill>
              <a:srgbClr val="D6E3F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500" y="15875"/>
              <a:ext cx="1405999" cy="733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648595" y="5984008"/>
            <a:ext cx="5450002" cy="2889605"/>
            <a:chOff x="0" y="0"/>
            <a:chExt cx="1532999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532999" cy="812800"/>
            </a:xfrm>
            <a:custGeom>
              <a:avLst/>
              <a:gdLst/>
              <a:ahLst/>
              <a:cxnLst/>
              <a:rect l="l" t="t" r="r" b="b"/>
              <a:pathLst>
                <a:path w="1532999" h="812800">
                  <a:moveTo>
                    <a:pt x="137297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1372979" y="812800"/>
                  </a:lnTo>
                  <a:lnTo>
                    <a:pt x="1532999" y="652780"/>
                  </a:lnTo>
                  <a:lnTo>
                    <a:pt x="1532999" y="160020"/>
                  </a:lnTo>
                  <a:lnTo>
                    <a:pt x="1372979" y="0"/>
                  </a:lnTo>
                  <a:close/>
                </a:path>
              </a:pathLst>
            </a:custGeom>
            <a:solidFill>
              <a:srgbClr val="D6E3F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500" y="15875"/>
              <a:ext cx="1405999" cy="733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4576283" y="3265365"/>
            <a:ext cx="3609788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384F67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즐겨찾기 기능</a:t>
            </a: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384F67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384F67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7559831" y="6297198"/>
            <a:ext cx="3627530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384F67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데이터 신뢰성 확보</a:t>
            </a: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384F67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384F67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4611230" y="3833690"/>
            <a:ext cx="3893185" cy="157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3150"/>
              </a:lnSpc>
              <a:buFont typeface="Arial"/>
              <a:buChar char="•"/>
            </a:pPr>
            <a:r>
              <a:rPr lang="en-US" sz="1800" b="1">
                <a:solidFill>
                  <a:srgbClr val="7288A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관심 있는 장소를 저장하고 다시 확인할 수 있는 기능이 필요</a:t>
            </a:r>
          </a:p>
          <a:p>
            <a:pPr algn="l">
              <a:lnSpc>
                <a:spcPts val="3150"/>
              </a:lnSpc>
            </a:pPr>
            <a:endParaRPr lang="en-US" sz="1800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l">
              <a:lnSpc>
                <a:spcPts val="3150"/>
              </a:lnSpc>
            </a:pPr>
            <a:endParaRPr lang="en-US" sz="1800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7339577" y="6890869"/>
            <a:ext cx="4390601" cy="1179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3150"/>
              </a:lnSpc>
              <a:buFont typeface="Arial"/>
              <a:buChar char="•"/>
            </a:pPr>
            <a:r>
              <a:rPr lang="en-US" sz="1800" b="1">
                <a:solidFill>
                  <a:srgbClr val="7288A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리뷰 분석 결과가 편향되지 않도록 충분한 데이터 기반에서 제공되어야 함</a:t>
            </a:r>
          </a:p>
          <a:p>
            <a:pPr algn="l">
              <a:lnSpc>
                <a:spcPts val="3150"/>
              </a:lnSpc>
            </a:pPr>
            <a:endParaRPr lang="en-US" sz="1800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084187" y="3243577"/>
            <a:ext cx="3872955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384F67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직관적 UI/UX</a:t>
            </a: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384F67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384F67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0188150" y="3974251"/>
            <a:ext cx="3768992" cy="157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3150"/>
              </a:lnSpc>
              <a:buFont typeface="Arial"/>
              <a:buChar char="•"/>
            </a:pPr>
            <a:r>
              <a:rPr lang="en-US" sz="1800" b="1">
                <a:solidFill>
                  <a:srgbClr val="7288A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다양한 연령대의 사용자가 쉽게 사용할 수 있도록 단순하고 명확한 화면 구성이 요구</a:t>
            </a:r>
          </a:p>
          <a:p>
            <a:pPr algn="l">
              <a:lnSpc>
                <a:spcPts val="3150"/>
              </a:lnSpc>
            </a:pPr>
            <a:endParaRPr lang="en-US" sz="1800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6557822" y="1424295"/>
            <a:ext cx="5172355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84F67"/>
                </a:solidFill>
                <a:latin typeface="210 도시락"/>
                <a:ea typeface="210 도시락"/>
                <a:cs typeface="210 도시락"/>
                <a:sym typeface="210 도시락"/>
              </a:rPr>
              <a:t>아이디어 창출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274860" y="1452928"/>
            <a:ext cx="151775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A4B9CE"/>
                </a:solidFill>
                <a:latin typeface="Lovely May Script"/>
                <a:ea typeface="Lovely May Script"/>
                <a:cs typeface="Lovely May Script"/>
                <a:sym typeface="Lovely May Script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B9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1214" y="-383595"/>
            <a:ext cx="21315878" cy="10670595"/>
            <a:chOff x="0" y="0"/>
            <a:chExt cx="28421170" cy="1422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872247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872247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970645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972288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1069043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069043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700544"/>
            <a:ext cx="16326741" cy="8885912"/>
            <a:chOff x="0" y="0"/>
            <a:chExt cx="21768988" cy="11847883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419232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4C607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8148205" y="43290"/>
              <a:ext cx="1261355" cy="779639"/>
              <a:chOff x="0" y="0"/>
              <a:chExt cx="278029" cy="1718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182290" y="43290"/>
              <a:ext cx="1261355" cy="779639"/>
              <a:chOff x="0" y="0"/>
              <a:chExt cx="278029" cy="17184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272022"/>
              <a:ext cx="21640800" cy="11428651"/>
              <a:chOff x="0" y="0"/>
              <a:chExt cx="4274726" cy="225751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749353">
              <a:off x="3306636" y="28433"/>
              <a:ext cx="290431" cy="251100"/>
              <a:chOff x="0" y="0"/>
              <a:chExt cx="1077708" cy="93176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334933" y="209215"/>
              <a:ext cx="1272649" cy="581591"/>
              <a:chOff x="0" y="0"/>
              <a:chExt cx="280519" cy="12819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2197048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3445428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2" name="Group 32"/>
            <p:cNvGrpSpPr/>
            <p:nvPr/>
          </p:nvGrpSpPr>
          <p:grpSpPr>
            <a:xfrm rot="-749353">
              <a:off x="19272552" y="28433"/>
              <a:ext cx="290431" cy="251100"/>
              <a:chOff x="0" y="0"/>
              <a:chExt cx="1077708" cy="9317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8300848" y="209215"/>
              <a:ext cx="1272649" cy="581591"/>
              <a:chOff x="0" y="0"/>
              <a:chExt cx="280519" cy="12819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8" name="AutoShape 38"/>
            <p:cNvSpPr/>
            <p:nvPr/>
          </p:nvSpPr>
          <p:spPr>
            <a:xfrm>
              <a:off x="18162964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9411343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938272" y="2908624"/>
            <a:ext cx="10775098" cy="5712985"/>
            <a:chOff x="0" y="0"/>
            <a:chExt cx="1532999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32999" cy="812800"/>
            </a:xfrm>
            <a:custGeom>
              <a:avLst/>
              <a:gdLst/>
              <a:ahLst/>
              <a:cxnLst/>
              <a:rect l="l" t="t" r="r" b="b"/>
              <a:pathLst>
                <a:path w="1532999" h="812800">
                  <a:moveTo>
                    <a:pt x="137297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1372979" y="812800"/>
                  </a:lnTo>
                  <a:lnTo>
                    <a:pt x="1532999" y="652780"/>
                  </a:lnTo>
                  <a:lnTo>
                    <a:pt x="1532999" y="160020"/>
                  </a:lnTo>
                  <a:lnTo>
                    <a:pt x="1372979" y="0"/>
                  </a:lnTo>
                  <a:close/>
                </a:path>
              </a:pathLst>
            </a:custGeom>
            <a:solidFill>
              <a:srgbClr val="D6E3F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500" y="15875"/>
              <a:ext cx="1405999" cy="733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7022273" y="3247180"/>
            <a:ext cx="4088905" cy="1413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en-US" sz="2690" b="1">
                <a:solidFill>
                  <a:srgbClr val="384F67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카테고리 및 다국어 확장</a:t>
            </a:r>
          </a:p>
          <a:p>
            <a:pPr algn="ctr">
              <a:lnSpc>
                <a:spcPts val="3767"/>
              </a:lnSpc>
            </a:pPr>
            <a:endParaRPr lang="en-US" sz="2690" b="1">
              <a:solidFill>
                <a:srgbClr val="384F67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ctr">
              <a:lnSpc>
                <a:spcPts val="3767"/>
              </a:lnSpc>
            </a:pPr>
            <a:endParaRPr lang="en-US" sz="2690" b="1">
              <a:solidFill>
                <a:srgbClr val="384F67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6033737" y="3863287"/>
            <a:ext cx="6901022" cy="596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169" lvl="1" indent="-242585" algn="l">
              <a:lnSpc>
                <a:spcPts val="3932"/>
              </a:lnSpc>
              <a:buFont typeface="Arial"/>
              <a:buChar char="•"/>
            </a:pPr>
            <a:r>
              <a:rPr lang="en-US" sz="2247" b="1">
                <a:solidFill>
                  <a:srgbClr val="7288A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기존 플랫폼의 리뷰는 단순 번역기에 의존하여 작성자의 표현 방식과 언어적 특성에 따라 의미가 달라질 수 있음.</a:t>
            </a:r>
          </a:p>
          <a:p>
            <a:pPr marL="485169" lvl="1" indent="-242585" algn="l">
              <a:lnSpc>
                <a:spcPts val="3932"/>
              </a:lnSpc>
              <a:buFont typeface="Arial"/>
              <a:buChar char="•"/>
            </a:pPr>
            <a:r>
              <a:rPr lang="en-US" sz="2247" b="1">
                <a:solidFill>
                  <a:srgbClr val="7288A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LLM 기반 다국어 맥락 번역 기능을 도입해 국가별 사용자들의 핵심 의견을 별도로 확인할 수 있도록 하자는 아이디어와 카테고리를 문화시설과 교통편 등으로도 확대하자는 아이디어를 생각</a:t>
            </a:r>
          </a:p>
          <a:p>
            <a:pPr marL="485169" lvl="1" indent="-242585" algn="l">
              <a:lnSpc>
                <a:spcPts val="3932"/>
              </a:lnSpc>
              <a:buFont typeface="Arial"/>
              <a:buChar char="•"/>
            </a:pPr>
            <a:r>
              <a:rPr lang="en-US" sz="2247" b="1">
                <a:solidFill>
                  <a:srgbClr val="7288A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제한된 기간을 고려하여 핵심기능을 우선적으로 완성도를 높이기로 결정</a:t>
            </a:r>
          </a:p>
          <a:p>
            <a:pPr algn="l">
              <a:lnSpc>
                <a:spcPts val="3932"/>
              </a:lnSpc>
            </a:pPr>
            <a:endParaRPr lang="en-US" sz="2247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l">
              <a:lnSpc>
                <a:spcPts val="3932"/>
              </a:lnSpc>
            </a:pPr>
            <a:endParaRPr lang="en-US" sz="2247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l">
              <a:lnSpc>
                <a:spcPts val="3932"/>
              </a:lnSpc>
            </a:pPr>
            <a:endParaRPr lang="en-US" sz="2247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6557822" y="1424295"/>
            <a:ext cx="5172355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84F67"/>
                </a:solidFill>
                <a:latin typeface="210 도시락"/>
                <a:ea typeface="210 도시락"/>
                <a:cs typeface="210 도시락"/>
                <a:sym typeface="210 도시락"/>
              </a:rPr>
              <a:t>아이디어 창출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74860" y="1452928"/>
            <a:ext cx="151775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A4B9CE"/>
                </a:solidFill>
                <a:latin typeface="Lovely May Script"/>
                <a:ea typeface="Lovely May Script"/>
                <a:cs typeface="Lovely May Script"/>
                <a:sym typeface="Lovely May Script"/>
              </a:rPr>
              <a:t>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B9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1214" y="-383595"/>
            <a:ext cx="21315878" cy="10670595"/>
            <a:chOff x="0" y="0"/>
            <a:chExt cx="28421170" cy="1422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872247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872247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970645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972288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1069043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069043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700544"/>
            <a:ext cx="16326741" cy="8885912"/>
            <a:chOff x="0" y="0"/>
            <a:chExt cx="21768988" cy="11847883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419232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4C607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8148205" y="43290"/>
              <a:ext cx="1261355" cy="779639"/>
              <a:chOff x="0" y="0"/>
              <a:chExt cx="278029" cy="1718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182290" y="43290"/>
              <a:ext cx="1261355" cy="779639"/>
              <a:chOff x="0" y="0"/>
              <a:chExt cx="278029" cy="17184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272022"/>
              <a:ext cx="21640800" cy="11428651"/>
              <a:chOff x="0" y="0"/>
              <a:chExt cx="4274726" cy="225751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749353">
              <a:off x="3306636" y="28433"/>
              <a:ext cx="290431" cy="251100"/>
              <a:chOff x="0" y="0"/>
              <a:chExt cx="1077708" cy="93176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334933" y="209215"/>
              <a:ext cx="1272649" cy="581591"/>
              <a:chOff x="0" y="0"/>
              <a:chExt cx="280519" cy="12819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2197048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3445428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2" name="Group 32"/>
            <p:cNvGrpSpPr/>
            <p:nvPr/>
          </p:nvGrpSpPr>
          <p:grpSpPr>
            <a:xfrm rot="-749353">
              <a:off x="19272552" y="28433"/>
              <a:ext cx="290431" cy="251100"/>
              <a:chOff x="0" y="0"/>
              <a:chExt cx="1077708" cy="9317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8300848" y="209215"/>
              <a:ext cx="1272649" cy="581591"/>
              <a:chOff x="0" y="0"/>
              <a:chExt cx="280519" cy="12819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8" name="AutoShape 38"/>
            <p:cNvSpPr/>
            <p:nvPr/>
          </p:nvSpPr>
          <p:spPr>
            <a:xfrm>
              <a:off x="18162964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9411343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1954237" y="2756538"/>
          <a:ext cx="13872788" cy="6318325"/>
        </p:xfrm>
        <a:graphic>
          <a:graphicData uri="http://schemas.openxmlformats.org/drawingml/2006/table">
            <a:tbl>
              <a:tblPr/>
              <a:tblGrid>
                <a:gridCol w="2553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9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6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1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2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28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5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9061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384F67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실현(0.4)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384F67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총점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384F67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결과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384F67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아이디어 핵심 요약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384F67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가치(0.3)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384F67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차별(0.2)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384F67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확장(0.1)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952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5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4.6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필수(P0)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LLM 카테고리별 핵심 요약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5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4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3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7952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4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4.4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필수(P0)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AI 질의응답(QA) 기능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5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5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3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7315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4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3.8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우선(P1)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캐싱 시스템 &amp; API 연동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4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3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4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8588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5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3.8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우선(P1)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긍/부정 비율 시각화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4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2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2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7952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3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2.5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조정(P2)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이메일 인증 기반 회원가입/로그인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2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2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3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7952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2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2.9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보류(P3)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국가별/언어별 리뷰 분류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3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4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4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C6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" name="TextBox 41"/>
          <p:cNvSpPr txBox="1"/>
          <p:nvPr/>
        </p:nvSpPr>
        <p:spPr>
          <a:xfrm>
            <a:off x="6529881" y="1296818"/>
            <a:ext cx="7230926" cy="367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84F67"/>
                </a:solidFill>
                <a:latin typeface="210 도시락"/>
                <a:ea typeface="210 도시락"/>
                <a:cs typeface="210 도시락"/>
                <a:sym typeface="210 도시락"/>
              </a:rPr>
              <a:t>가중순위비교 분석</a:t>
            </a:r>
          </a:p>
          <a:p>
            <a:pPr algn="ctr">
              <a:lnSpc>
                <a:spcPts val="9799"/>
              </a:lnSpc>
            </a:pPr>
            <a:endParaRPr lang="en-US" sz="6999">
              <a:solidFill>
                <a:srgbClr val="384F67"/>
              </a:solidFill>
              <a:latin typeface="210 도시락"/>
              <a:ea typeface="210 도시락"/>
              <a:cs typeface="210 도시락"/>
              <a:sym typeface="210 도시락"/>
            </a:endParaRPr>
          </a:p>
          <a:p>
            <a:pPr algn="ctr">
              <a:lnSpc>
                <a:spcPts val="9799"/>
              </a:lnSpc>
            </a:pPr>
            <a:endParaRPr lang="en-US" sz="6999">
              <a:solidFill>
                <a:srgbClr val="384F67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5012126" y="1306343"/>
            <a:ext cx="151775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A4B9CE"/>
                </a:solidFill>
                <a:latin typeface="Lovely May Script"/>
                <a:ea typeface="Lovely May Script"/>
                <a:cs typeface="Lovely May Script"/>
                <a:sym typeface="Lovely May Script"/>
              </a:rPr>
              <a:t>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B9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1214" y="-383595"/>
            <a:ext cx="21315878" cy="10670595"/>
            <a:chOff x="0" y="0"/>
            <a:chExt cx="28421170" cy="1422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872247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872247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970645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972288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1069043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069043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700544"/>
            <a:ext cx="16326741" cy="8885912"/>
            <a:chOff x="0" y="0"/>
            <a:chExt cx="21768988" cy="11847883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419232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4C607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8148205" y="43290"/>
              <a:ext cx="1261355" cy="779639"/>
              <a:chOff x="0" y="0"/>
              <a:chExt cx="278029" cy="1718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182290" y="43290"/>
              <a:ext cx="1261355" cy="779639"/>
              <a:chOff x="0" y="0"/>
              <a:chExt cx="278029" cy="17184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272022"/>
              <a:ext cx="21640800" cy="11428651"/>
              <a:chOff x="0" y="0"/>
              <a:chExt cx="4274726" cy="225751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749353">
              <a:off x="3306636" y="28433"/>
              <a:ext cx="290431" cy="251100"/>
              <a:chOff x="0" y="0"/>
              <a:chExt cx="1077708" cy="93176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334933" y="209215"/>
              <a:ext cx="1272649" cy="581591"/>
              <a:chOff x="0" y="0"/>
              <a:chExt cx="280519" cy="12819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2197048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3445428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2" name="Group 32"/>
            <p:cNvGrpSpPr/>
            <p:nvPr/>
          </p:nvGrpSpPr>
          <p:grpSpPr>
            <a:xfrm rot="-749353">
              <a:off x="19272552" y="28433"/>
              <a:ext cx="290431" cy="251100"/>
              <a:chOff x="0" y="0"/>
              <a:chExt cx="1077708" cy="9317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8300848" y="209215"/>
              <a:ext cx="1272649" cy="581591"/>
              <a:chOff x="0" y="0"/>
              <a:chExt cx="280519" cy="12819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8" name="AutoShape 38"/>
            <p:cNvSpPr/>
            <p:nvPr/>
          </p:nvSpPr>
          <p:spPr>
            <a:xfrm>
              <a:off x="18162964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9411343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0" name="Freeform 40"/>
          <p:cNvSpPr/>
          <p:nvPr/>
        </p:nvSpPr>
        <p:spPr>
          <a:xfrm>
            <a:off x="2050723" y="3363391"/>
            <a:ext cx="5267922" cy="5267922"/>
          </a:xfrm>
          <a:custGeom>
            <a:avLst/>
            <a:gdLst/>
            <a:ahLst/>
            <a:cxnLst/>
            <a:rect l="l" t="t" r="r" b="b"/>
            <a:pathLst>
              <a:path w="5267922" h="5267922">
                <a:moveTo>
                  <a:pt x="0" y="0"/>
                </a:moveTo>
                <a:lnTo>
                  <a:pt x="5267922" y="0"/>
                </a:lnTo>
                <a:lnTo>
                  <a:pt x="5267922" y="5267922"/>
                </a:lnTo>
                <a:lnTo>
                  <a:pt x="0" y="5267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1" name="Group 41"/>
          <p:cNvGrpSpPr/>
          <p:nvPr/>
        </p:nvGrpSpPr>
        <p:grpSpPr>
          <a:xfrm>
            <a:off x="8812168" y="5464466"/>
            <a:ext cx="3480099" cy="757284"/>
            <a:chOff x="0" y="0"/>
            <a:chExt cx="4640132" cy="1009713"/>
          </a:xfrm>
        </p:grpSpPr>
        <p:grpSp>
          <p:nvGrpSpPr>
            <p:cNvPr id="42" name="Group 42"/>
            <p:cNvGrpSpPr/>
            <p:nvPr/>
          </p:nvGrpSpPr>
          <p:grpSpPr>
            <a:xfrm>
              <a:off x="114345" y="100440"/>
              <a:ext cx="4525787" cy="909273"/>
              <a:chOff x="0" y="0"/>
              <a:chExt cx="957007" cy="192272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957007" cy="192272"/>
              </a:xfrm>
              <a:custGeom>
                <a:avLst/>
                <a:gdLst/>
                <a:ahLst/>
                <a:cxnLst/>
                <a:rect l="l" t="t" r="r" b="b"/>
                <a:pathLst>
                  <a:path w="957007" h="192272">
                    <a:moveTo>
                      <a:pt x="0" y="0"/>
                    </a:moveTo>
                    <a:lnTo>
                      <a:pt x="957007" y="0"/>
                    </a:lnTo>
                    <a:lnTo>
                      <a:pt x="957007" y="192272"/>
                    </a:lnTo>
                    <a:lnTo>
                      <a:pt x="0" y="192272"/>
                    </a:lnTo>
                    <a:close/>
                  </a:path>
                </a:pathLst>
              </a:custGeom>
              <a:ln w="19050" cap="sq">
                <a:solidFill>
                  <a:srgbClr val="23416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47625"/>
                <a:ext cx="957007" cy="2398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0" y="0"/>
              <a:ext cx="4525787" cy="909273"/>
              <a:chOff x="0" y="0"/>
              <a:chExt cx="957007" cy="19227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957007" cy="192272"/>
              </a:xfrm>
              <a:custGeom>
                <a:avLst/>
                <a:gdLst/>
                <a:ahLst/>
                <a:cxnLst/>
                <a:rect l="l" t="t" r="r" b="b"/>
                <a:pathLst>
                  <a:path w="957007" h="192272">
                    <a:moveTo>
                      <a:pt x="0" y="0"/>
                    </a:moveTo>
                    <a:lnTo>
                      <a:pt x="957007" y="0"/>
                    </a:lnTo>
                    <a:lnTo>
                      <a:pt x="957007" y="192272"/>
                    </a:lnTo>
                    <a:lnTo>
                      <a:pt x="0" y="192272"/>
                    </a:lnTo>
                    <a:close/>
                  </a:path>
                </a:pathLst>
              </a:custGeom>
              <a:solidFill>
                <a:srgbClr val="2F538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47625"/>
                <a:ext cx="957007" cy="2398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8812168" y="7102629"/>
            <a:ext cx="3480099" cy="757284"/>
            <a:chOff x="0" y="0"/>
            <a:chExt cx="4640132" cy="1009713"/>
          </a:xfrm>
        </p:grpSpPr>
        <p:grpSp>
          <p:nvGrpSpPr>
            <p:cNvPr id="49" name="Group 49"/>
            <p:cNvGrpSpPr/>
            <p:nvPr/>
          </p:nvGrpSpPr>
          <p:grpSpPr>
            <a:xfrm>
              <a:off x="114345" y="100440"/>
              <a:ext cx="4525787" cy="909273"/>
              <a:chOff x="0" y="0"/>
              <a:chExt cx="957007" cy="192272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957007" cy="192272"/>
              </a:xfrm>
              <a:custGeom>
                <a:avLst/>
                <a:gdLst/>
                <a:ahLst/>
                <a:cxnLst/>
                <a:rect l="l" t="t" r="r" b="b"/>
                <a:pathLst>
                  <a:path w="957007" h="192272">
                    <a:moveTo>
                      <a:pt x="0" y="0"/>
                    </a:moveTo>
                    <a:lnTo>
                      <a:pt x="957007" y="0"/>
                    </a:lnTo>
                    <a:lnTo>
                      <a:pt x="957007" y="192272"/>
                    </a:lnTo>
                    <a:lnTo>
                      <a:pt x="0" y="192272"/>
                    </a:lnTo>
                    <a:close/>
                  </a:path>
                </a:pathLst>
              </a:custGeom>
              <a:ln w="19050" cap="sq">
                <a:solidFill>
                  <a:srgbClr val="23416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47625"/>
                <a:ext cx="957007" cy="2398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0" y="0"/>
              <a:ext cx="4525787" cy="909273"/>
              <a:chOff x="0" y="0"/>
              <a:chExt cx="957007" cy="192272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957007" cy="192272"/>
              </a:xfrm>
              <a:custGeom>
                <a:avLst/>
                <a:gdLst/>
                <a:ahLst/>
                <a:cxnLst/>
                <a:rect l="l" t="t" r="r" b="b"/>
                <a:pathLst>
                  <a:path w="957007" h="192272">
                    <a:moveTo>
                      <a:pt x="0" y="0"/>
                    </a:moveTo>
                    <a:lnTo>
                      <a:pt x="957007" y="0"/>
                    </a:lnTo>
                    <a:lnTo>
                      <a:pt x="957007" y="192272"/>
                    </a:lnTo>
                    <a:lnTo>
                      <a:pt x="0" y="192272"/>
                    </a:lnTo>
                    <a:close/>
                  </a:path>
                </a:pathLst>
              </a:custGeom>
              <a:solidFill>
                <a:srgbClr val="23416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0" y="-47625"/>
                <a:ext cx="957007" cy="2398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8812168" y="3826304"/>
            <a:ext cx="3480099" cy="757284"/>
            <a:chOff x="0" y="0"/>
            <a:chExt cx="4640132" cy="1009713"/>
          </a:xfrm>
        </p:grpSpPr>
        <p:grpSp>
          <p:nvGrpSpPr>
            <p:cNvPr id="56" name="Group 56"/>
            <p:cNvGrpSpPr/>
            <p:nvPr/>
          </p:nvGrpSpPr>
          <p:grpSpPr>
            <a:xfrm>
              <a:off x="114345" y="100440"/>
              <a:ext cx="4525787" cy="909273"/>
              <a:chOff x="0" y="0"/>
              <a:chExt cx="957007" cy="192272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957007" cy="192272"/>
              </a:xfrm>
              <a:custGeom>
                <a:avLst/>
                <a:gdLst/>
                <a:ahLst/>
                <a:cxnLst/>
                <a:rect l="l" t="t" r="r" b="b"/>
                <a:pathLst>
                  <a:path w="957007" h="192272">
                    <a:moveTo>
                      <a:pt x="0" y="0"/>
                    </a:moveTo>
                    <a:lnTo>
                      <a:pt x="957007" y="0"/>
                    </a:lnTo>
                    <a:lnTo>
                      <a:pt x="957007" y="192272"/>
                    </a:lnTo>
                    <a:lnTo>
                      <a:pt x="0" y="192272"/>
                    </a:lnTo>
                    <a:close/>
                  </a:path>
                </a:pathLst>
              </a:custGeom>
              <a:ln w="19050" cap="sq">
                <a:solidFill>
                  <a:srgbClr val="23416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47625"/>
                <a:ext cx="957007" cy="2398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0" y="0"/>
              <a:ext cx="4525787" cy="909273"/>
              <a:chOff x="0" y="0"/>
              <a:chExt cx="957007" cy="192272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957007" cy="192272"/>
              </a:xfrm>
              <a:custGeom>
                <a:avLst/>
                <a:gdLst/>
                <a:ahLst/>
                <a:cxnLst/>
                <a:rect l="l" t="t" r="r" b="b"/>
                <a:pathLst>
                  <a:path w="957007" h="192272">
                    <a:moveTo>
                      <a:pt x="0" y="0"/>
                    </a:moveTo>
                    <a:lnTo>
                      <a:pt x="957007" y="0"/>
                    </a:lnTo>
                    <a:lnTo>
                      <a:pt x="957007" y="192272"/>
                    </a:lnTo>
                    <a:lnTo>
                      <a:pt x="0" y="192272"/>
                    </a:lnTo>
                    <a:close/>
                  </a:path>
                </a:pathLst>
              </a:custGeom>
              <a:solidFill>
                <a:srgbClr val="577AA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0" y="-47625"/>
                <a:ext cx="957007" cy="2398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62" name="TextBox 62"/>
          <p:cNvSpPr txBox="1"/>
          <p:nvPr/>
        </p:nvSpPr>
        <p:spPr>
          <a:xfrm>
            <a:off x="5628764" y="1294513"/>
            <a:ext cx="8203199" cy="367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84F67"/>
                </a:solidFill>
                <a:latin typeface="210 도시락"/>
                <a:ea typeface="210 도시락"/>
                <a:cs typeface="210 도시락"/>
                <a:sym typeface="210 도시락"/>
              </a:rPr>
              <a:t>아이디어 분석 및 설계</a:t>
            </a:r>
          </a:p>
          <a:p>
            <a:pPr algn="ctr">
              <a:lnSpc>
                <a:spcPts val="9799"/>
              </a:lnSpc>
            </a:pPr>
            <a:endParaRPr lang="en-US" sz="6999">
              <a:solidFill>
                <a:srgbClr val="384F67"/>
              </a:solidFill>
              <a:latin typeface="210 도시락"/>
              <a:ea typeface="210 도시락"/>
              <a:cs typeface="210 도시락"/>
              <a:sym typeface="210 도시락"/>
            </a:endParaRPr>
          </a:p>
          <a:p>
            <a:pPr algn="ctr">
              <a:lnSpc>
                <a:spcPts val="9799"/>
              </a:lnSpc>
            </a:pPr>
            <a:endParaRPr lang="en-US" sz="6999">
              <a:solidFill>
                <a:srgbClr val="384F67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4508855" y="1304038"/>
            <a:ext cx="142690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A4B9CE"/>
                </a:solidFill>
                <a:latin typeface="Lovely May Script"/>
                <a:ea typeface="Lovely May Script"/>
                <a:cs typeface="Lovely May Script"/>
                <a:sym typeface="Lovely May Script"/>
              </a:rPr>
              <a:t>03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918032" y="3936969"/>
            <a:ext cx="318261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지능형 분석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881335" y="4722151"/>
            <a:ext cx="7884796" cy="2666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34167"/>
                </a:solidFill>
                <a:latin typeface="TDTD순고딕"/>
                <a:ea typeface="TDTD순고딕"/>
                <a:cs typeface="TDTD순고딕"/>
                <a:sym typeface="TDTD순고딕"/>
              </a:rPr>
              <a:t>'캐싱 레이어'를 두어 동일 장소 검색 시 속도를 높임. 특히 광고성 리뷰 제거와 텍스트 압축을 ai 프롬프트를 통해 LLM 비용을 절감하고 요약의 질을 높임.</a:t>
            </a: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234167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34167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234167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234167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234167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234167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8918032" y="5575131"/>
            <a:ext cx="3182612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직관적 정보 가시화</a:t>
            </a: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FFFFFF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FFFFFF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8881335" y="6360314"/>
            <a:ext cx="7884796" cy="133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34167"/>
                </a:solidFill>
                <a:latin typeface="TDTD순고딕"/>
                <a:ea typeface="TDTD순고딕"/>
                <a:cs typeface="TDTD순고딕"/>
                <a:sym typeface="TDTD순고딕"/>
              </a:rPr>
              <a:t>결과 페이지에서 시각적 지표(그래프) + 텍스트 요약 + 대화형 QA를 한 화면에 배치하여 정보 습득의 완결성을 제공</a:t>
            </a: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234167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234167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8918032" y="7213294"/>
            <a:ext cx="3288476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사용자 관리 및 인증</a:t>
            </a: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FFFFFF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FFFFFF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8881335" y="7998477"/>
            <a:ext cx="7884796" cy="2332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34167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이메일 링크 인증' 시스템 구축은 보안 및 메일 서버 설정 등 리소스 소모가 클 수 있으므로 소셜 로그인(Google, Kakao)을 활용하여 인증 절차를 간소화하고, 즐겨찾기 목록기능의 완성도에 더 집중</a:t>
            </a: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234167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234167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234167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234167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B9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1214" y="-383595"/>
            <a:ext cx="21315878" cy="10670595"/>
            <a:chOff x="0" y="0"/>
            <a:chExt cx="28421170" cy="1422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872247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872247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970645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972288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1069043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069043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700544"/>
            <a:ext cx="16326741" cy="8885912"/>
            <a:chOff x="0" y="0"/>
            <a:chExt cx="21768988" cy="11847883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419232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4C607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8148205" y="43290"/>
              <a:ext cx="1261355" cy="779639"/>
              <a:chOff x="0" y="0"/>
              <a:chExt cx="278029" cy="1718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182290" y="43290"/>
              <a:ext cx="1261355" cy="779639"/>
              <a:chOff x="0" y="0"/>
              <a:chExt cx="278029" cy="17184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272022"/>
              <a:ext cx="21640800" cy="11428651"/>
              <a:chOff x="0" y="0"/>
              <a:chExt cx="4274726" cy="225751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749353">
              <a:off x="3306636" y="28433"/>
              <a:ext cx="290431" cy="251100"/>
              <a:chOff x="0" y="0"/>
              <a:chExt cx="1077708" cy="93176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334933" y="209215"/>
              <a:ext cx="1272649" cy="581591"/>
              <a:chOff x="0" y="0"/>
              <a:chExt cx="280519" cy="12819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2197048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3445428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2" name="Group 32"/>
            <p:cNvGrpSpPr/>
            <p:nvPr/>
          </p:nvGrpSpPr>
          <p:grpSpPr>
            <a:xfrm rot="-749353">
              <a:off x="19272552" y="28433"/>
              <a:ext cx="290431" cy="251100"/>
              <a:chOff x="0" y="0"/>
              <a:chExt cx="1077708" cy="9317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8300848" y="209215"/>
              <a:ext cx="1272649" cy="581591"/>
              <a:chOff x="0" y="0"/>
              <a:chExt cx="280519" cy="12819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8" name="AutoShape 38"/>
            <p:cNvSpPr/>
            <p:nvPr/>
          </p:nvSpPr>
          <p:spPr>
            <a:xfrm>
              <a:off x="18162964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9411343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727278" y="3025526"/>
            <a:ext cx="14067018" cy="2526505"/>
            <a:chOff x="0" y="0"/>
            <a:chExt cx="2767580" cy="49707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767580" cy="497071"/>
            </a:xfrm>
            <a:custGeom>
              <a:avLst/>
              <a:gdLst/>
              <a:ahLst/>
              <a:cxnLst/>
              <a:rect l="l" t="t" r="r" b="b"/>
              <a:pathLst>
                <a:path w="2767580" h="497071">
                  <a:moveTo>
                    <a:pt x="2568485" y="0"/>
                  </a:moveTo>
                  <a:lnTo>
                    <a:pt x="199096" y="0"/>
                  </a:lnTo>
                  <a:cubicBezTo>
                    <a:pt x="174076" y="0"/>
                    <a:pt x="150081" y="9939"/>
                    <a:pt x="132389" y="27631"/>
                  </a:cubicBezTo>
                  <a:lnTo>
                    <a:pt x="27631" y="132389"/>
                  </a:lnTo>
                  <a:cubicBezTo>
                    <a:pt x="9939" y="150081"/>
                    <a:pt x="0" y="174076"/>
                    <a:pt x="0" y="199096"/>
                  </a:cubicBezTo>
                  <a:lnTo>
                    <a:pt x="0" y="297975"/>
                  </a:lnTo>
                  <a:cubicBezTo>
                    <a:pt x="0" y="322995"/>
                    <a:pt x="9939" y="346990"/>
                    <a:pt x="27631" y="364682"/>
                  </a:cubicBezTo>
                  <a:lnTo>
                    <a:pt x="132389" y="469440"/>
                  </a:lnTo>
                  <a:cubicBezTo>
                    <a:pt x="150081" y="487132"/>
                    <a:pt x="174076" y="497071"/>
                    <a:pt x="199096" y="497071"/>
                  </a:cubicBezTo>
                  <a:lnTo>
                    <a:pt x="2568485" y="497071"/>
                  </a:lnTo>
                  <a:cubicBezTo>
                    <a:pt x="2593504" y="497071"/>
                    <a:pt x="2617499" y="487132"/>
                    <a:pt x="2635191" y="469440"/>
                  </a:cubicBezTo>
                  <a:lnTo>
                    <a:pt x="2739950" y="364682"/>
                  </a:lnTo>
                  <a:cubicBezTo>
                    <a:pt x="2757641" y="346990"/>
                    <a:pt x="2767580" y="322995"/>
                    <a:pt x="2767580" y="297975"/>
                  </a:cubicBezTo>
                  <a:lnTo>
                    <a:pt x="2767580" y="199096"/>
                  </a:lnTo>
                  <a:cubicBezTo>
                    <a:pt x="2767580" y="174076"/>
                    <a:pt x="2757641" y="150081"/>
                    <a:pt x="2739950" y="132389"/>
                  </a:cubicBezTo>
                  <a:lnTo>
                    <a:pt x="2635191" y="27631"/>
                  </a:lnTo>
                  <a:cubicBezTo>
                    <a:pt x="2617499" y="9939"/>
                    <a:pt x="2593504" y="0"/>
                    <a:pt x="2568485" y="0"/>
                  </a:cubicBezTo>
                  <a:close/>
                </a:path>
              </a:pathLst>
            </a:custGeom>
            <a:solidFill>
              <a:srgbClr val="99FFCE"/>
            </a:solidFill>
            <a:ln cap="rnd">
              <a:noFill/>
              <a:prstDash val="lgDash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500" y="15875"/>
              <a:ext cx="2640580" cy="417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6557822" y="3299509"/>
            <a:ext cx="4088905" cy="1413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en-US" sz="2690" b="1">
                <a:solidFill>
                  <a:srgbClr val="384F67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국가별 리뷰 분류</a:t>
            </a:r>
          </a:p>
          <a:p>
            <a:pPr algn="ctr">
              <a:lnSpc>
                <a:spcPts val="3767"/>
              </a:lnSpc>
            </a:pPr>
            <a:endParaRPr lang="en-US" sz="2690" b="1">
              <a:solidFill>
                <a:srgbClr val="384F67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ctr">
              <a:lnSpc>
                <a:spcPts val="3767"/>
              </a:lnSpc>
            </a:pPr>
            <a:endParaRPr lang="en-US" sz="2690" b="1">
              <a:solidFill>
                <a:srgbClr val="384F67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042993" y="3934666"/>
            <a:ext cx="9666214" cy="2312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266" lvl="1" indent="-188633" algn="l">
              <a:lnSpc>
                <a:spcPts val="3057"/>
              </a:lnSpc>
              <a:buFont typeface="Arial"/>
              <a:buChar char="•"/>
            </a:pPr>
            <a:r>
              <a:rPr lang="en-US" sz="1747" b="1">
                <a:solidFill>
                  <a:srgbClr val="7288A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데이터 수집 단계에서 언어별 필터링과 번역 비용이 추가 발생한다. 1단계에서는 한국어/영어 리뷰 통합 분석에 집중하고, 언어별 분리는 추후 확장 기능으로 돌리는 것이 안전하다</a:t>
            </a:r>
          </a:p>
          <a:p>
            <a:pPr algn="l">
              <a:lnSpc>
                <a:spcPts val="3057"/>
              </a:lnSpc>
            </a:pPr>
            <a:endParaRPr lang="en-US" sz="1747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l">
              <a:lnSpc>
                <a:spcPts val="3057"/>
              </a:lnSpc>
            </a:pPr>
            <a:endParaRPr lang="en-US" sz="1747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l">
              <a:lnSpc>
                <a:spcPts val="3057"/>
              </a:lnSpc>
            </a:pPr>
            <a:endParaRPr lang="en-US" sz="1747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l">
              <a:lnSpc>
                <a:spcPts val="3057"/>
              </a:lnSpc>
            </a:pPr>
            <a:endParaRPr lang="en-US" sz="1747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5270128" y="1454834"/>
            <a:ext cx="8937423" cy="367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84F67"/>
                </a:solidFill>
                <a:latin typeface="210 도시락"/>
                <a:ea typeface="210 도시락"/>
                <a:cs typeface="210 도시락"/>
                <a:sym typeface="210 도시락"/>
              </a:rPr>
              <a:t>제외 및 보류된 아이디어</a:t>
            </a:r>
          </a:p>
          <a:p>
            <a:pPr algn="ctr">
              <a:lnSpc>
                <a:spcPts val="9799"/>
              </a:lnSpc>
            </a:pPr>
            <a:endParaRPr lang="en-US" sz="6999">
              <a:solidFill>
                <a:srgbClr val="384F67"/>
              </a:solidFill>
              <a:latin typeface="210 도시락"/>
              <a:ea typeface="210 도시락"/>
              <a:cs typeface="210 도시락"/>
              <a:sym typeface="210 도시락"/>
            </a:endParaRPr>
          </a:p>
          <a:p>
            <a:pPr algn="ctr">
              <a:lnSpc>
                <a:spcPts val="9799"/>
              </a:lnSpc>
            </a:pPr>
            <a:endParaRPr lang="en-US" sz="6999">
              <a:solidFill>
                <a:srgbClr val="384F67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3752373" y="1433820"/>
            <a:ext cx="151775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A4B9CE"/>
                </a:solidFill>
                <a:latin typeface="Lovely May Script"/>
                <a:ea typeface="Lovely May Script"/>
                <a:cs typeface="Lovely May Script"/>
                <a:sym typeface="Lovely May Script"/>
              </a:rPr>
              <a:t>03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727278" y="5952082"/>
            <a:ext cx="14067018" cy="2526505"/>
            <a:chOff x="0" y="0"/>
            <a:chExt cx="2767580" cy="49707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767580" cy="497071"/>
            </a:xfrm>
            <a:custGeom>
              <a:avLst/>
              <a:gdLst/>
              <a:ahLst/>
              <a:cxnLst/>
              <a:rect l="l" t="t" r="r" b="b"/>
              <a:pathLst>
                <a:path w="2767580" h="497071">
                  <a:moveTo>
                    <a:pt x="2568485" y="0"/>
                  </a:moveTo>
                  <a:lnTo>
                    <a:pt x="199096" y="0"/>
                  </a:lnTo>
                  <a:cubicBezTo>
                    <a:pt x="174076" y="0"/>
                    <a:pt x="150081" y="9939"/>
                    <a:pt x="132389" y="27631"/>
                  </a:cubicBezTo>
                  <a:lnTo>
                    <a:pt x="27631" y="132389"/>
                  </a:lnTo>
                  <a:cubicBezTo>
                    <a:pt x="9939" y="150081"/>
                    <a:pt x="0" y="174076"/>
                    <a:pt x="0" y="199096"/>
                  </a:cubicBezTo>
                  <a:lnTo>
                    <a:pt x="0" y="297975"/>
                  </a:lnTo>
                  <a:cubicBezTo>
                    <a:pt x="0" y="322995"/>
                    <a:pt x="9939" y="346990"/>
                    <a:pt x="27631" y="364682"/>
                  </a:cubicBezTo>
                  <a:lnTo>
                    <a:pt x="132389" y="469440"/>
                  </a:lnTo>
                  <a:cubicBezTo>
                    <a:pt x="150081" y="487132"/>
                    <a:pt x="174076" y="497071"/>
                    <a:pt x="199096" y="497071"/>
                  </a:cubicBezTo>
                  <a:lnTo>
                    <a:pt x="2568485" y="497071"/>
                  </a:lnTo>
                  <a:cubicBezTo>
                    <a:pt x="2593504" y="497071"/>
                    <a:pt x="2617499" y="487132"/>
                    <a:pt x="2635191" y="469440"/>
                  </a:cubicBezTo>
                  <a:lnTo>
                    <a:pt x="2739950" y="364682"/>
                  </a:lnTo>
                  <a:cubicBezTo>
                    <a:pt x="2757641" y="346990"/>
                    <a:pt x="2767580" y="322995"/>
                    <a:pt x="2767580" y="297975"/>
                  </a:cubicBezTo>
                  <a:lnTo>
                    <a:pt x="2767580" y="199096"/>
                  </a:lnTo>
                  <a:cubicBezTo>
                    <a:pt x="2767580" y="174076"/>
                    <a:pt x="2757641" y="150081"/>
                    <a:pt x="2739950" y="132389"/>
                  </a:cubicBezTo>
                  <a:lnTo>
                    <a:pt x="2635191" y="27631"/>
                  </a:lnTo>
                  <a:cubicBezTo>
                    <a:pt x="2617499" y="9939"/>
                    <a:pt x="2593504" y="0"/>
                    <a:pt x="2568485" y="0"/>
                  </a:cubicBezTo>
                  <a:close/>
                </a:path>
              </a:pathLst>
            </a:custGeom>
            <a:solidFill>
              <a:srgbClr val="99FFCE"/>
            </a:solidFill>
            <a:ln cap="rnd">
              <a:noFill/>
              <a:prstDash val="lgDash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500" y="15875"/>
              <a:ext cx="2640580" cy="4176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6557822" y="6180884"/>
            <a:ext cx="4088905" cy="469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en-US" sz="2690" b="1">
                <a:solidFill>
                  <a:srgbClr val="384F67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카테고리 확장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042993" y="6690074"/>
            <a:ext cx="9666214" cy="1147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266" lvl="1" indent="-188633" algn="l">
              <a:lnSpc>
                <a:spcPts val="3057"/>
              </a:lnSpc>
              <a:buFont typeface="Arial"/>
              <a:buChar char="•"/>
            </a:pPr>
            <a:r>
              <a:rPr lang="en-US" sz="1747" b="1">
                <a:solidFill>
                  <a:srgbClr val="7288A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설계 구조상으로는 고려하되, 실제 구현 데이터는 제안서에 명시한 대로 '여행지, 호텔, 식당'에 집중하여 정확도를 높인다.</a:t>
            </a:r>
          </a:p>
          <a:p>
            <a:pPr algn="l">
              <a:lnSpc>
                <a:spcPts val="3057"/>
              </a:lnSpc>
            </a:pPr>
            <a:endParaRPr lang="en-US" sz="1747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B9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700544"/>
            <a:ext cx="16326741" cy="8885912"/>
            <a:chOff x="0" y="0"/>
            <a:chExt cx="21768988" cy="11847883"/>
          </a:xfrm>
        </p:grpSpPr>
        <p:grpSp>
          <p:nvGrpSpPr>
            <p:cNvPr id="3" name="Group 3"/>
            <p:cNvGrpSpPr/>
            <p:nvPr/>
          </p:nvGrpSpPr>
          <p:grpSpPr>
            <a:xfrm>
              <a:off x="128188" y="419232"/>
              <a:ext cx="21640800" cy="11428651"/>
              <a:chOff x="0" y="0"/>
              <a:chExt cx="4274726" cy="225751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4C607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148205" y="43290"/>
              <a:ext cx="1261355" cy="779639"/>
              <a:chOff x="0" y="0"/>
              <a:chExt cx="278029" cy="17184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82290" y="43290"/>
              <a:ext cx="1261355" cy="779639"/>
              <a:chOff x="0" y="0"/>
              <a:chExt cx="278029" cy="17184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272022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749353">
              <a:off x="3306636" y="28433"/>
              <a:ext cx="290431" cy="251100"/>
              <a:chOff x="0" y="0"/>
              <a:chExt cx="1077708" cy="93176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334933" y="209215"/>
              <a:ext cx="1272649" cy="581591"/>
              <a:chOff x="0" y="0"/>
              <a:chExt cx="280519" cy="12819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1" name="AutoShape 21"/>
            <p:cNvSpPr/>
            <p:nvPr/>
          </p:nvSpPr>
          <p:spPr>
            <a:xfrm>
              <a:off x="2197048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3445428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3" name="Group 23"/>
            <p:cNvGrpSpPr/>
            <p:nvPr/>
          </p:nvGrpSpPr>
          <p:grpSpPr>
            <a:xfrm rot="-749353">
              <a:off x="19272552" y="28433"/>
              <a:ext cx="290431" cy="251100"/>
              <a:chOff x="0" y="0"/>
              <a:chExt cx="1077708" cy="93176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8300848" y="209215"/>
              <a:ext cx="1272649" cy="581591"/>
              <a:chOff x="0" y="0"/>
              <a:chExt cx="280519" cy="12819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9" name="AutoShape 29"/>
            <p:cNvSpPr/>
            <p:nvPr/>
          </p:nvSpPr>
          <p:spPr>
            <a:xfrm>
              <a:off x="18162964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19411343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1" name="Freeform 31"/>
          <p:cNvSpPr/>
          <p:nvPr/>
        </p:nvSpPr>
        <p:spPr>
          <a:xfrm>
            <a:off x="3949897" y="2854164"/>
            <a:ext cx="8577682" cy="5854268"/>
          </a:xfrm>
          <a:custGeom>
            <a:avLst/>
            <a:gdLst/>
            <a:ahLst/>
            <a:cxnLst/>
            <a:rect l="l" t="t" r="r" b="b"/>
            <a:pathLst>
              <a:path w="8577682" h="5854268">
                <a:moveTo>
                  <a:pt x="0" y="0"/>
                </a:moveTo>
                <a:lnTo>
                  <a:pt x="8577682" y="0"/>
                </a:lnTo>
                <a:lnTo>
                  <a:pt x="8577682" y="5854268"/>
                </a:lnTo>
                <a:lnTo>
                  <a:pt x="0" y="5854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2" name="Freeform 32"/>
          <p:cNvSpPr/>
          <p:nvPr/>
        </p:nvSpPr>
        <p:spPr>
          <a:xfrm>
            <a:off x="3949897" y="6866122"/>
            <a:ext cx="8701127" cy="5854268"/>
          </a:xfrm>
          <a:custGeom>
            <a:avLst/>
            <a:gdLst/>
            <a:ahLst/>
            <a:cxnLst/>
            <a:rect l="l" t="t" r="r" b="b"/>
            <a:pathLst>
              <a:path w="8701127" h="5854268">
                <a:moveTo>
                  <a:pt x="0" y="0"/>
                </a:moveTo>
                <a:lnTo>
                  <a:pt x="8701127" y="0"/>
                </a:lnTo>
                <a:lnTo>
                  <a:pt x="8701127" y="5854268"/>
                </a:lnTo>
                <a:lnTo>
                  <a:pt x="0" y="5854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19" b="-719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3752373" y="1433820"/>
            <a:ext cx="151775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A4B9CE"/>
                </a:solidFill>
                <a:latin typeface="Lovely May Script"/>
                <a:ea typeface="Lovely May Script"/>
                <a:cs typeface="Lovely May Script"/>
                <a:sym typeface="Lovely May Script"/>
              </a:rPr>
              <a:t>03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138550" y="1424295"/>
            <a:ext cx="8937423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84F67"/>
                </a:solidFill>
                <a:latin typeface="210 도시락"/>
                <a:ea typeface="210 도시락"/>
                <a:cs typeface="210 도시락"/>
                <a:sym typeface="210 도시락"/>
              </a:rPr>
              <a:t>최종 기능 리스트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B9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700544"/>
            <a:ext cx="16326741" cy="8885912"/>
            <a:chOff x="0" y="0"/>
            <a:chExt cx="21768988" cy="11847883"/>
          </a:xfrm>
        </p:grpSpPr>
        <p:grpSp>
          <p:nvGrpSpPr>
            <p:cNvPr id="3" name="Group 3"/>
            <p:cNvGrpSpPr/>
            <p:nvPr/>
          </p:nvGrpSpPr>
          <p:grpSpPr>
            <a:xfrm>
              <a:off x="128188" y="419232"/>
              <a:ext cx="21640800" cy="11428651"/>
              <a:chOff x="0" y="0"/>
              <a:chExt cx="4274726" cy="225751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4C607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148205" y="43290"/>
              <a:ext cx="1261355" cy="779639"/>
              <a:chOff x="0" y="0"/>
              <a:chExt cx="278029" cy="17184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82290" y="43290"/>
              <a:ext cx="1261355" cy="779639"/>
              <a:chOff x="0" y="0"/>
              <a:chExt cx="278029" cy="17184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272022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749353">
              <a:off x="3306636" y="28433"/>
              <a:ext cx="290431" cy="251100"/>
              <a:chOff x="0" y="0"/>
              <a:chExt cx="1077708" cy="93176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334933" y="209215"/>
              <a:ext cx="1272649" cy="581591"/>
              <a:chOff x="0" y="0"/>
              <a:chExt cx="280519" cy="12819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1" name="AutoShape 21"/>
            <p:cNvSpPr/>
            <p:nvPr/>
          </p:nvSpPr>
          <p:spPr>
            <a:xfrm>
              <a:off x="2197048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3445428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3" name="Group 23"/>
            <p:cNvGrpSpPr/>
            <p:nvPr/>
          </p:nvGrpSpPr>
          <p:grpSpPr>
            <a:xfrm rot="-749353">
              <a:off x="19272552" y="28433"/>
              <a:ext cx="290431" cy="251100"/>
              <a:chOff x="0" y="0"/>
              <a:chExt cx="1077708" cy="93176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8300848" y="209215"/>
              <a:ext cx="1272649" cy="581591"/>
              <a:chOff x="0" y="0"/>
              <a:chExt cx="280519" cy="12819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9" name="AutoShape 29"/>
            <p:cNvSpPr/>
            <p:nvPr/>
          </p:nvSpPr>
          <p:spPr>
            <a:xfrm>
              <a:off x="18162964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19411343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1" name="Freeform 31"/>
          <p:cNvSpPr/>
          <p:nvPr/>
        </p:nvSpPr>
        <p:spPr>
          <a:xfrm>
            <a:off x="2476849" y="3105780"/>
            <a:ext cx="13315346" cy="5509224"/>
          </a:xfrm>
          <a:custGeom>
            <a:avLst/>
            <a:gdLst/>
            <a:ahLst/>
            <a:cxnLst/>
            <a:rect l="l" t="t" r="r" b="b"/>
            <a:pathLst>
              <a:path w="13315346" h="5509224">
                <a:moveTo>
                  <a:pt x="0" y="0"/>
                </a:moveTo>
                <a:lnTo>
                  <a:pt x="13315346" y="0"/>
                </a:lnTo>
                <a:lnTo>
                  <a:pt x="13315346" y="5509225"/>
                </a:lnTo>
                <a:lnTo>
                  <a:pt x="0" y="5509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2847111" y="1433820"/>
            <a:ext cx="151775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A4B9CE"/>
                </a:solidFill>
                <a:latin typeface="Lovely May Script"/>
                <a:ea typeface="Lovely May Script"/>
                <a:cs typeface="Lovely May Script"/>
                <a:sym typeface="Lovely May Script"/>
              </a:rPr>
              <a:t>04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138550" y="1424295"/>
            <a:ext cx="10891966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84F67"/>
                </a:solidFill>
                <a:latin typeface="210 도시락"/>
                <a:ea typeface="210 도시락"/>
                <a:cs typeface="210 도시락"/>
                <a:sym typeface="210 도시락"/>
              </a:rPr>
              <a:t>퓨 방법론을 이용한 대안 평가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B9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1214" y="-383595"/>
            <a:ext cx="21315878" cy="10670595"/>
            <a:chOff x="0" y="0"/>
            <a:chExt cx="28421170" cy="1422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872247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872247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970645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972288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1069043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069043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700544"/>
            <a:ext cx="16326741" cy="8885912"/>
            <a:chOff x="0" y="0"/>
            <a:chExt cx="21768988" cy="11847883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419232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4C607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8148205" y="43290"/>
              <a:ext cx="1261355" cy="779639"/>
              <a:chOff x="0" y="0"/>
              <a:chExt cx="278029" cy="1718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182290" y="43290"/>
              <a:ext cx="1261355" cy="779639"/>
              <a:chOff x="0" y="0"/>
              <a:chExt cx="278029" cy="17184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272022"/>
              <a:ext cx="21640800" cy="11428651"/>
              <a:chOff x="0" y="0"/>
              <a:chExt cx="4274726" cy="225751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749353">
              <a:off x="3306636" y="28433"/>
              <a:ext cx="290431" cy="251100"/>
              <a:chOff x="0" y="0"/>
              <a:chExt cx="1077708" cy="93176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334933" y="209215"/>
              <a:ext cx="1272649" cy="581591"/>
              <a:chOff x="0" y="0"/>
              <a:chExt cx="280519" cy="12819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2197048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3445428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2" name="Group 32"/>
            <p:cNvGrpSpPr/>
            <p:nvPr/>
          </p:nvGrpSpPr>
          <p:grpSpPr>
            <a:xfrm rot="-749353">
              <a:off x="19272552" y="28433"/>
              <a:ext cx="290431" cy="251100"/>
              <a:chOff x="0" y="0"/>
              <a:chExt cx="1077708" cy="9317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8300848" y="209215"/>
              <a:ext cx="1272649" cy="581591"/>
              <a:chOff x="0" y="0"/>
              <a:chExt cx="280519" cy="12819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8" name="AutoShape 38"/>
            <p:cNvSpPr/>
            <p:nvPr/>
          </p:nvSpPr>
          <p:spPr>
            <a:xfrm>
              <a:off x="18162964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9411343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1766235" y="3203255"/>
          <a:ext cx="14755531" cy="5446724"/>
        </p:xfrm>
        <a:graphic>
          <a:graphicData uri="http://schemas.openxmlformats.org/drawingml/2006/table">
            <a:tbl>
              <a:tblPr/>
              <a:tblGrid>
                <a:gridCol w="2022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2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96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596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810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84F67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평가기준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대안 1(기준)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대안 2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84F67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대안 3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84F67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비고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10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AFEFF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사용자 편의성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8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+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++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질의응답을 통한 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직관적 인터페이스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810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AFEFF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정보 제공 효율성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8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+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++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AI 요약으로 인지적 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부하 최소화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810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AFEFF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구현 가능성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8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+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S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기술적 난도가 있으나 전략적 대응 가능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810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AFEFF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확장 가능성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8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+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+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향후 카테고리 및 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기능 확장 용이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810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AFEFF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데이터 신뢰성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8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+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+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RAGAS 등을 통한 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검증 체계 구축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810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AFEFF"/>
                          </a:solidFill>
                          <a:latin typeface="TDTD순고딕 Bold"/>
                          <a:ea typeface="TDTD순고딕 Bold"/>
                          <a:cs typeface="TDTD순고딕 Bold"/>
                          <a:sym typeface="TDTD순고딕 Bold"/>
                        </a:rPr>
                        <a:t>합계(+/-/S)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8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5/0/0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6/0/1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84F67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최종 선정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E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" name="TextBox 41"/>
          <p:cNvSpPr txBox="1"/>
          <p:nvPr/>
        </p:nvSpPr>
        <p:spPr>
          <a:xfrm>
            <a:off x="4928106" y="1293237"/>
            <a:ext cx="10644115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84F67"/>
                </a:solidFill>
                <a:latin typeface="210 도시락"/>
                <a:ea typeface="210 도시락"/>
                <a:cs typeface="210 도시락"/>
                <a:sym typeface="210 도시락"/>
              </a:rPr>
              <a:t>퓨 방법론을 이용한 대안 평가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635845" y="1302762"/>
            <a:ext cx="151775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A4B9CE"/>
                </a:solidFill>
                <a:latin typeface="Lovely May Script"/>
                <a:ea typeface="Lovely May Script"/>
                <a:cs typeface="Lovely May Script"/>
                <a:sym typeface="Lovely May Script"/>
              </a:rPr>
              <a:t>04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766235" y="8812822"/>
            <a:ext cx="3594941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384F67"/>
                </a:solidFill>
                <a:latin typeface="TDTD순고딕"/>
                <a:ea typeface="TDTD순고딕"/>
                <a:cs typeface="TDTD순고딕"/>
                <a:sym typeface="TDTD순고딕"/>
              </a:rPr>
              <a:t>(+ : 우수, S : 동일, - : 열세)</a:t>
            </a:r>
          </a:p>
          <a:p>
            <a:pPr algn="ctr">
              <a:lnSpc>
                <a:spcPts val="3079"/>
              </a:lnSpc>
            </a:pPr>
            <a:endParaRPr lang="en-US" sz="2199">
              <a:solidFill>
                <a:srgbClr val="384F67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ctr">
              <a:lnSpc>
                <a:spcPts val="3079"/>
              </a:lnSpc>
            </a:pPr>
            <a:endParaRPr lang="en-US" sz="2199">
              <a:solidFill>
                <a:srgbClr val="384F67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B9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700544"/>
            <a:ext cx="16326741" cy="8885912"/>
            <a:chOff x="0" y="0"/>
            <a:chExt cx="21768988" cy="11847883"/>
          </a:xfrm>
        </p:grpSpPr>
        <p:grpSp>
          <p:nvGrpSpPr>
            <p:cNvPr id="3" name="Group 3"/>
            <p:cNvGrpSpPr/>
            <p:nvPr/>
          </p:nvGrpSpPr>
          <p:grpSpPr>
            <a:xfrm>
              <a:off x="128188" y="419232"/>
              <a:ext cx="21640800" cy="11428651"/>
              <a:chOff x="0" y="0"/>
              <a:chExt cx="4274726" cy="225751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4C607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148205" y="43290"/>
              <a:ext cx="1261355" cy="779639"/>
              <a:chOff x="0" y="0"/>
              <a:chExt cx="278029" cy="17184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182290" y="43290"/>
              <a:ext cx="1261355" cy="779639"/>
              <a:chOff x="0" y="0"/>
              <a:chExt cx="278029" cy="17184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272022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749353">
              <a:off x="3306636" y="28433"/>
              <a:ext cx="290431" cy="251100"/>
              <a:chOff x="0" y="0"/>
              <a:chExt cx="1077708" cy="93176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334933" y="209215"/>
              <a:ext cx="1272649" cy="581591"/>
              <a:chOff x="0" y="0"/>
              <a:chExt cx="280519" cy="12819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1" name="AutoShape 21"/>
            <p:cNvSpPr/>
            <p:nvPr/>
          </p:nvSpPr>
          <p:spPr>
            <a:xfrm>
              <a:off x="2197048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3445428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3" name="Group 23"/>
            <p:cNvGrpSpPr/>
            <p:nvPr/>
          </p:nvGrpSpPr>
          <p:grpSpPr>
            <a:xfrm rot="-749353">
              <a:off x="19272552" y="28433"/>
              <a:ext cx="290431" cy="251100"/>
              <a:chOff x="0" y="0"/>
              <a:chExt cx="1077708" cy="93176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8300848" y="209215"/>
              <a:ext cx="1272649" cy="581591"/>
              <a:chOff x="0" y="0"/>
              <a:chExt cx="280519" cy="12819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9" name="AutoShape 29"/>
            <p:cNvSpPr/>
            <p:nvPr/>
          </p:nvSpPr>
          <p:spPr>
            <a:xfrm>
              <a:off x="18162964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19411343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3752373" y="1433820"/>
            <a:ext cx="151775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A4B9CE"/>
                </a:solidFill>
                <a:latin typeface="Lovely May Script"/>
                <a:ea typeface="Lovely May Script"/>
                <a:cs typeface="Lovely May Script"/>
                <a:sym typeface="Lovely May Script"/>
              </a:rPr>
              <a:t>04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138550" y="1424295"/>
            <a:ext cx="8937423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84F67"/>
                </a:solidFill>
                <a:latin typeface="210 도시락"/>
                <a:ea typeface="210 도시락"/>
                <a:cs typeface="210 도시락"/>
                <a:sym typeface="210 도시락"/>
              </a:rPr>
              <a:t>최종 선택 결과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752373" y="2879279"/>
            <a:ext cx="10858246" cy="595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073" lvl="1" indent="-264536" algn="l">
              <a:lnSpc>
                <a:spcPts val="4288"/>
              </a:lnSpc>
              <a:buFont typeface="Arial"/>
              <a:buChar char="•"/>
            </a:pPr>
            <a:r>
              <a:rPr lang="en-US" sz="2450" b="1">
                <a:solidFill>
                  <a:srgbClr val="7288A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대안 3인 ‘AI 기반 리뷰 분석 및 질의응답 통합 서비스’를 최종 설계안으로 선정</a:t>
            </a:r>
          </a:p>
          <a:p>
            <a:pPr algn="l">
              <a:lnSpc>
                <a:spcPts val="4288"/>
              </a:lnSpc>
            </a:pPr>
            <a:endParaRPr lang="en-US" sz="2450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marL="529073" lvl="1" indent="-264536" algn="l">
              <a:lnSpc>
                <a:spcPts val="4288"/>
              </a:lnSpc>
              <a:buFont typeface="Arial"/>
              <a:buChar char="•"/>
            </a:pPr>
            <a:r>
              <a:rPr lang="en-US" sz="2450" b="1">
                <a:solidFill>
                  <a:srgbClr val="7288A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대안 3은 사용자 편의성과 정보 제공 효율성 측면에서 가장 높은 평가를 받았음</a:t>
            </a:r>
          </a:p>
          <a:p>
            <a:pPr algn="l">
              <a:lnSpc>
                <a:spcPts val="4288"/>
              </a:lnSpc>
            </a:pPr>
            <a:endParaRPr lang="en-US" sz="2450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marL="529073" lvl="1" indent="-264536" algn="l">
              <a:lnSpc>
                <a:spcPts val="4288"/>
              </a:lnSpc>
              <a:buFont typeface="Arial"/>
              <a:buChar char="•"/>
            </a:pPr>
            <a:r>
              <a:rPr lang="en-US" sz="2450" b="1">
                <a:solidFill>
                  <a:srgbClr val="7288A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이는 사용자가 원하는 핵심 정보를 빠르게 파악하고 탐색 시간을 단축할 수 있다는 점에서 큰 장점을 가짐</a:t>
            </a:r>
          </a:p>
          <a:p>
            <a:pPr algn="l">
              <a:lnSpc>
                <a:spcPts val="4288"/>
              </a:lnSpc>
            </a:pPr>
            <a:endParaRPr lang="en-US" sz="2450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marL="529073" lvl="1" indent="-264536" algn="l">
              <a:lnSpc>
                <a:spcPts val="4288"/>
              </a:lnSpc>
              <a:buFont typeface="Arial"/>
              <a:buChar char="•"/>
            </a:pPr>
            <a:r>
              <a:rPr lang="en-US" sz="2450" b="1">
                <a:solidFill>
                  <a:srgbClr val="7288A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또한, 확장 가능성과 데이터 신뢰성 측면에서도 우수한 평가를 받아, 향후 기능 확장 및 서비스 발전 가능성이 높은 설계안으로 판단</a:t>
            </a:r>
          </a:p>
          <a:p>
            <a:pPr algn="l">
              <a:lnSpc>
                <a:spcPts val="4288"/>
              </a:lnSpc>
            </a:pPr>
            <a:endParaRPr lang="en-US" sz="2450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  <a:p>
            <a:pPr algn="l">
              <a:lnSpc>
                <a:spcPts val="4288"/>
              </a:lnSpc>
            </a:pPr>
            <a:endParaRPr lang="en-US" sz="2450" b="1">
              <a:solidFill>
                <a:srgbClr val="7288A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B9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1214" y="-383595"/>
            <a:ext cx="21315878" cy="10670595"/>
            <a:chOff x="0" y="0"/>
            <a:chExt cx="28421170" cy="1422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872247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872247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970645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972288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1069043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069043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29" y="713544"/>
            <a:ext cx="16326741" cy="8885912"/>
            <a:chOff x="0" y="0"/>
            <a:chExt cx="21768988" cy="11847883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419232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4C607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8148205" y="43290"/>
              <a:ext cx="1261355" cy="779639"/>
              <a:chOff x="0" y="0"/>
              <a:chExt cx="278029" cy="1718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182290" y="43290"/>
              <a:ext cx="1261355" cy="779639"/>
              <a:chOff x="0" y="0"/>
              <a:chExt cx="278029" cy="17184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272022"/>
              <a:ext cx="21640800" cy="11428651"/>
              <a:chOff x="0" y="0"/>
              <a:chExt cx="4274726" cy="225751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749353">
              <a:off x="3306636" y="28433"/>
              <a:ext cx="290431" cy="251100"/>
              <a:chOff x="0" y="0"/>
              <a:chExt cx="1077708" cy="93176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334933" y="209215"/>
              <a:ext cx="1272649" cy="581591"/>
              <a:chOff x="0" y="0"/>
              <a:chExt cx="280519" cy="12819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2197048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3445428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2" name="Group 32"/>
            <p:cNvGrpSpPr/>
            <p:nvPr/>
          </p:nvGrpSpPr>
          <p:grpSpPr>
            <a:xfrm rot="-749353">
              <a:off x="19272552" y="28433"/>
              <a:ext cx="290431" cy="251100"/>
              <a:chOff x="0" y="0"/>
              <a:chExt cx="1077708" cy="9317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8300848" y="209215"/>
              <a:ext cx="1272649" cy="581591"/>
              <a:chOff x="0" y="0"/>
              <a:chExt cx="280519" cy="12819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8" name="AutoShape 38"/>
            <p:cNvSpPr/>
            <p:nvPr/>
          </p:nvSpPr>
          <p:spPr>
            <a:xfrm>
              <a:off x="18162964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9411343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6376038" y="1294513"/>
            <a:ext cx="5535923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84F67"/>
                </a:solidFill>
                <a:latin typeface="210 도시락"/>
                <a:ea typeface="210 도시락"/>
                <a:cs typeface="210 도시락"/>
                <a:sym typeface="210 도시락"/>
              </a:rPr>
              <a:t>질문과 답변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669585" y="3319521"/>
            <a:ext cx="6948829" cy="3647959"/>
            <a:chOff x="0" y="0"/>
            <a:chExt cx="9265106" cy="4863945"/>
          </a:xfrm>
        </p:grpSpPr>
        <p:sp>
          <p:nvSpPr>
            <p:cNvPr id="43" name="TextBox 43"/>
            <p:cNvSpPr txBox="1"/>
            <p:nvPr/>
          </p:nvSpPr>
          <p:spPr>
            <a:xfrm>
              <a:off x="0" y="-466725"/>
              <a:ext cx="3036401" cy="5330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6"/>
                </a:lnSpc>
              </a:pPr>
              <a:r>
                <a:rPr lang="en-US" sz="23954">
                  <a:solidFill>
                    <a:srgbClr val="4D6987"/>
                  </a:solidFill>
                  <a:latin typeface="Bernoru"/>
                  <a:ea typeface="Bernoru"/>
                  <a:cs typeface="Bernoru"/>
                  <a:sym typeface="Bernoru"/>
                </a:rPr>
                <a:t>Q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83686" y="-466725"/>
              <a:ext cx="3181419" cy="5330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6"/>
                </a:lnSpc>
              </a:pPr>
              <a:r>
                <a:rPr lang="en-US" sz="23954">
                  <a:solidFill>
                    <a:srgbClr val="91A2B4"/>
                  </a:solidFill>
                  <a:latin typeface="Bernoru"/>
                  <a:ea typeface="Bernoru"/>
                  <a:cs typeface="Bernoru"/>
                  <a:sym typeface="Bernoru"/>
                </a:rPr>
                <a:t>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893428" y="836691"/>
              <a:ext cx="1474553" cy="2956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360"/>
                </a:lnSpc>
              </a:pPr>
              <a:r>
                <a:rPr lang="en-US" sz="13114" b="1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&amp;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5926697" y="7085770"/>
            <a:ext cx="6434606" cy="365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384F67"/>
                </a:solidFill>
                <a:latin typeface="TDTD순고딕"/>
                <a:ea typeface="TDTD순고딕"/>
                <a:cs typeface="TDTD순고딕"/>
                <a:sym typeface="TDTD순고딕"/>
              </a:rPr>
              <a:t>질문 사항에 자세히 답변하는 시간을 갖습니다.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B9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1214" y="-383595"/>
            <a:ext cx="21315878" cy="10670595"/>
            <a:chOff x="0" y="0"/>
            <a:chExt cx="28421170" cy="1422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872247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872247" y="6875332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970645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972288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8" y="0"/>
                  </a:lnTo>
                  <a:lnTo>
                    <a:pt x="7352128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1069043" y="0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069043" y="6873689"/>
              <a:ext cx="7352128" cy="7352128"/>
            </a:xfrm>
            <a:custGeom>
              <a:avLst/>
              <a:gdLst/>
              <a:ahLst/>
              <a:cxnLst/>
              <a:rect l="l" t="t" r="r" b="b"/>
              <a:pathLst>
                <a:path w="7352128" h="7352128">
                  <a:moveTo>
                    <a:pt x="0" y="0"/>
                  </a:moveTo>
                  <a:lnTo>
                    <a:pt x="7352127" y="0"/>
                  </a:lnTo>
                  <a:lnTo>
                    <a:pt x="7352127" y="7352128"/>
                  </a:lnTo>
                  <a:lnTo>
                    <a:pt x="0" y="735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700544"/>
            <a:ext cx="16326741" cy="8885912"/>
            <a:chOff x="0" y="0"/>
            <a:chExt cx="21768988" cy="11847883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419232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4C607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8148205" y="43290"/>
              <a:ext cx="1261355" cy="779639"/>
              <a:chOff x="0" y="0"/>
              <a:chExt cx="278029" cy="1718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182290" y="43290"/>
              <a:ext cx="1261355" cy="779639"/>
              <a:chOff x="0" y="0"/>
              <a:chExt cx="278029" cy="17184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78029" cy="171849"/>
              </a:xfrm>
              <a:custGeom>
                <a:avLst/>
                <a:gdLst/>
                <a:ahLst/>
                <a:cxnLst/>
                <a:rect l="l" t="t" r="r" b="b"/>
                <a:pathLst>
                  <a:path w="278029" h="171849">
                    <a:moveTo>
                      <a:pt x="0" y="0"/>
                    </a:moveTo>
                    <a:lnTo>
                      <a:pt x="278029" y="0"/>
                    </a:lnTo>
                    <a:lnTo>
                      <a:pt x="278029" y="171849"/>
                    </a:lnTo>
                    <a:lnTo>
                      <a:pt x="0" y="171849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78029" cy="219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272022"/>
              <a:ext cx="21640800" cy="11428651"/>
              <a:chOff x="0" y="0"/>
              <a:chExt cx="4274726" cy="225751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749353">
              <a:off x="3306636" y="28433"/>
              <a:ext cx="290431" cy="251100"/>
              <a:chOff x="0" y="0"/>
              <a:chExt cx="1077708" cy="93176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334933" y="209215"/>
              <a:ext cx="1272649" cy="581591"/>
              <a:chOff x="0" y="0"/>
              <a:chExt cx="280519" cy="12819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2197048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3445428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2" name="Group 32"/>
            <p:cNvGrpSpPr/>
            <p:nvPr/>
          </p:nvGrpSpPr>
          <p:grpSpPr>
            <a:xfrm rot="-749353">
              <a:off x="19272552" y="28433"/>
              <a:ext cx="290431" cy="251100"/>
              <a:chOff x="0" y="0"/>
              <a:chExt cx="1077708" cy="93176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5117" y="61509"/>
                <a:ext cx="987473" cy="870252"/>
              </a:xfrm>
              <a:custGeom>
                <a:avLst/>
                <a:gdLst/>
                <a:ahLst/>
                <a:cxnLst/>
                <a:rect l="l" t="t" r="r" b="b"/>
                <a:pathLst>
                  <a:path w="987473" h="870252">
                    <a:moveTo>
                      <a:pt x="547117" y="30794"/>
                    </a:moveTo>
                    <a:lnTo>
                      <a:pt x="979210" y="777949"/>
                    </a:lnTo>
                    <a:cubicBezTo>
                      <a:pt x="990216" y="796979"/>
                      <a:pt x="990229" y="820436"/>
                      <a:pt x="979244" y="839478"/>
                    </a:cubicBezTo>
                    <a:cubicBezTo>
                      <a:pt x="968259" y="858520"/>
                      <a:pt x="947947" y="870252"/>
                      <a:pt x="925964" y="870252"/>
                    </a:cubicBezTo>
                    <a:lnTo>
                      <a:pt x="61510" y="870252"/>
                    </a:lnTo>
                    <a:cubicBezTo>
                      <a:pt x="39526" y="870252"/>
                      <a:pt x="19214" y="858520"/>
                      <a:pt x="8230" y="839478"/>
                    </a:cubicBezTo>
                    <a:cubicBezTo>
                      <a:pt x="-2755" y="820436"/>
                      <a:pt x="-2742" y="796979"/>
                      <a:pt x="8263" y="777949"/>
                    </a:cubicBezTo>
                    <a:lnTo>
                      <a:pt x="440357" y="30794"/>
                    </a:lnTo>
                    <a:cubicBezTo>
                      <a:pt x="451378" y="11737"/>
                      <a:pt x="471722" y="0"/>
                      <a:pt x="493737" y="0"/>
                    </a:cubicBezTo>
                    <a:cubicBezTo>
                      <a:pt x="515751" y="0"/>
                      <a:pt x="536096" y="11737"/>
                      <a:pt x="547117" y="30794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68392" y="384978"/>
                <a:ext cx="740924" cy="4802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8300848" y="209215"/>
              <a:ext cx="1272649" cy="581591"/>
              <a:chOff x="0" y="0"/>
              <a:chExt cx="280519" cy="12819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80519" cy="128195"/>
              </a:xfrm>
              <a:custGeom>
                <a:avLst/>
                <a:gdLst/>
                <a:ahLst/>
                <a:cxnLst/>
                <a:rect l="l" t="t" r="r" b="b"/>
                <a:pathLst>
                  <a:path w="280519" h="128195">
                    <a:moveTo>
                      <a:pt x="0" y="0"/>
                    </a:moveTo>
                    <a:lnTo>
                      <a:pt x="280519" y="0"/>
                    </a:lnTo>
                    <a:lnTo>
                      <a:pt x="280519" y="128195"/>
                    </a:lnTo>
                    <a:lnTo>
                      <a:pt x="0" y="12819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FCFC">
                      <a:alpha val="100000"/>
                    </a:srgbClr>
                  </a:gs>
                  <a:gs pos="50000">
                    <a:srgbClr val="E1E1E1">
                      <a:alpha val="100000"/>
                    </a:srgbClr>
                  </a:gs>
                  <a:gs pos="100000">
                    <a:srgbClr val="FCFCFC">
                      <a:alpha val="100000"/>
                    </a:srgbClr>
                  </a:gs>
                </a:gsLst>
                <a:lin ang="5400000"/>
              </a:gradFill>
              <a:ln w="9525" cap="sq">
                <a:solidFill>
                  <a:srgbClr val="4F627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280519" cy="175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8" name="AutoShape 38"/>
            <p:cNvSpPr/>
            <p:nvPr/>
          </p:nvSpPr>
          <p:spPr>
            <a:xfrm>
              <a:off x="18162964" y="60266"/>
              <a:ext cx="146433" cy="155160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9411343" y="53799"/>
              <a:ext cx="162657" cy="163114"/>
            </a:xfrm>
            <a:prstGeom prst="line">
              <a:avLst/>
            </a:prstGeom>
            <a:ln w="12700" cap="flat">
              <a:solidFill>
                <a:srgbClr val="4F627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0" name="Freeform 40"/>
          <p:cNvSpPr/>
          <p:nvPr/>
        </p:nvSpPr>
        <p:spPr>
          <a:xfrm>
            <a:off x="11745869" y="2720511"/>
            <a:ext cx="5050903" cy="4845977"/>
          </a:xfrm>
          <a:custGeom>
            <a:avLst/>
            <a:gdLst/>
            <a:ahLst/>
            <a:cxnLst/>
            <a:rect l="l" t="t" r="r" b="b"/>
            <a:pathLst>
              <a:path w="5050903" h="4845977">
                <a:moveTo>
                  <a:pt x="0" y="0"/>
                </a:moveTo>
                <a:lnTo>
                  <a:pt x="5050903" y="0"/>
                </a:lnTo>
                <a:lnTo>
                  <a:pt x="5050903" y="4845978"/>
                </a:lnTo>
                <a:lnTo>
                  <a:pt x="0" y="4845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1" name="TextBox 41"/>
          <p:cNvSpPr txBox="1"/>
          <p:nvPr/>
        </p:nvSpPr>
        <p:spPr>
          <a:xfrm>
            <a:off x="1162307" y="4361104"/>
            <a:ext cx="6433435" cy="140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03"/>
              </a:lnSpc>
            </a:pPr>
            <a:r>
              <a:rPr lang="en-US" sz="8145">
                <a:solidFill>
                  <a:srgbClr val="384F67"/>
                </a:solidFill>
                <a:latin typeface="210 도시락"/>
                <a:ea typeface="210 도시락"/>
                <a:cs typeface="210 도시락"/>
                <a:sym typeface="210 도시락"/>
              </a:rPr>
              <a:t>감사합니다!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638</Words>
  <Application>Microsoft Office PowerPoint</Application>
  <PresentationFormat>사용자 지정</PresentationFormat>
  <Paragraphs>174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210 도시락</vt:lpstr>
      <vt:lpstr>Bernoru</vt:lpstr>
      <vt:lpstr>Lovely May Script</vt:lpstr>
      <vt:lpstr>Arial</vt:lpstr>
      <vt:lpstr>TDTD순고딕</vt:lpstr>
      <vt:lpstr>Calibri</vt:lpstr>
      <vt:lpstr>TDTD순고딕 Bold</vt:lpstr>
      <vt:lpstr>Nanum Square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파란색 깔끔한 마케팅 전략 프레젠테이션</dc:title>
  <dc:creator>wontae jang</dc:creator>
  <cp:lastModifiedBy>wontae jang</cp:lastModifiedBy>
  <cp:revision>2</cp:revision>
  <dcterms:created xsi:type="dcterms:W3CDTF">2006-08-16T00:00:00Z</dcterms:created>
  <dcterms:modified xsi:type="dcterms:W3CDTF">2026-03-30T07:11:56Z</dcterms:modified>
  <dc:identifier>DAHFYgS44Eo</dc:identifier>
</cp:coreProperties>
</file>